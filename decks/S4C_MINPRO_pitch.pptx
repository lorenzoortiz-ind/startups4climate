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 snapToObjects="1">
      <p:cViewPr varScale="1">
        <p:scale>
          <a:sx n="115" d="100"/>
          <a:sy n="115" d="100"/>
        </p:scale>
        <p:origin x="240" y="3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9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686800" y="-1371600"/>
            <a:ext cx="5486400" cy="5486400"/>
          </a:xfrm>
          <a:prstGeom prst="ellipse">
            <a:avLst/>
          </a:prstGeom>
          <a:solidFill>
            <a:srgbClr val="2A1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1828800" y="4114800"/>
            <a:ext cx="4572000" cy="4572000"/>
          </a:xfrm>
          <a:prstGeom prst="ellipse">
            <a:avLst/>
          </a:prstGeom>
          <a:solidFill>
            <a:srgbClr val="121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40080" y="502920"/>
            <a:ext cx="422452" cy="422452"/>
          </a:xfrm>
          <a:prstGeom prst="roundRect">
            <a:avLst>
              <a:gd name="adj" fmla="val 25000"/>
            </a:avLst>
          </a:prstGeom>
          <a:solidFill>
            <a:srgbClr val="1E2330"/>
          </a:solidFill>
          <a:ln w="9525">
            <a:solidFill>
              <a:srgbClr val="FF6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422452" cy="4224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F1F5F9"/>
                </a:solidFill>
                <a:latin typeface="Inter"/>
              </a:rPr>
              <a:t>S4C</a:t>
            </a:r>
          </a:p>
        </p:txBody>
      </p:sp>
      <p:sp>
        <p:nvSpPr>
          <p:cNvPr id="6" name="Oval 5"/>
          <p:cNvSpPr/>
          <p:nvPr/>
        </p:nvSpPr>
        <p:spPr>
          <a:xfrm>
            <a:off x="992124" y="553212"/>
            <a:ext cx="75438" cy="75438"/>
          </a:xfrm>
          <a:prstGeom prst="ellipse">
            <a:avLst/>
          </a:prstGeom>
          <a:solidFill>
            <a:srgbClr val="F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43583" y="482804"/>
            <a:ext cx="3520440" cy="46268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600" b="1">
                <a:solidFill>
                  <a:srgbClr val="F1F5F9"/>
                </a:solidFill>
                <a:latin typeface="Inter"/>
              </a:rPr>
              <a:t>Startups</a:t>
            </a:r>
            <a:r>
              <a:rPr sz="1600" b="1">
                <a:solidFill>
                  <a:srgbClr val="FF6B4A"/>
                </a:solidFill>
                <a:latin typeface="Inter"/>
              </a:rPr>
              <a:t>4</a:t>
            </a:r>
            <a:r>
              <a:rPr sz="1600" b="1">
                <a:solidFill>
                  <a:srgbClr val="F1F5F9"/>
                </a:solidFill>
                <a:latin typeface="Inter"/>
              </a:rPr>
              <a:t>Climate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FF6B4A"/>
                </a:solidFill>
                <a:latin typeface="Inter"/>
              </a:rPr>
              <a:t>PROPUESTA PARA EL MINISTERIO DE LA PRODUCCIÓN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23160"/>
            <a:ext cx="100584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1F5F9"/>
                </a:solidFill>
                <a:latin typeface="Inter"/>
              </a:rPr>
              <a:t>Infraestructura digital nacional</a:t>
            </a:r>
          </a:p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1F5F9"/>
                </a:solidFill>
                <a:latin typeface="Inter"/>
              </a:rPr>
              <a:t>para programas de innovación y emprendimiento.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434840"/>
            <a:ext cx="640080" cy="38100"/>
          </a:xfrm>
          <a:prstGeom prst="rect">
            <a:avLst/>
          </a:prstGeom>
          <a:solidFill>
            <a:srgbClr val="F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4572000"/>
            <a:ext cx="91440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9CA3AF"/>
                </a:solidFill>
                <a:latin typeface="Inter"/>
              </a:rPr>
              <a:t>Una plataforma todo-en-uno que estandariza la gestión de cohortes, mide impacto y conecta el ecosistema peruano de startups de impacto.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98932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B7280"/>
                </a:solidFill>
                <a:latin typeface="Inter"/>
              </a:rPr>
              <a:t>Desarrollado por Redesign Lab · Lima, Perú · Abril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5989320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 i="0">
                <a:solidFill>
                  <a:srgbClr val="FF6B4A"/>
                </a:solidFill>
                <a:latin typeface="Inter"/>
              </a:rPr>
              <a:t>startups4climate.vercel.app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FF6B4A"/>
                </a:solidFill>
                <a:latin typeface="Inter"/>
              </a:rPr>
              <a:t>01 · CONTEXTO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F1F5F9"/>
                </a:solidFill>
                <a:latin typeface="Inter"/>
              </a:rPr>
              <a:t>El Perú tiene talento emprendedor — pero infraestructura fragmentada.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9CA3AF"/>
                </a:solidFill>
                <a:latin typeface="Inter"/>
              </a:rPr>
              <a:t>Tres realidades que limitan la escala del emprendimiento de impacto.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560320"/>
            <a:ext cx="3611880" cy="3017520"/>
          </a:xfrm>
          <a:prstGeom prst="roundRect">
            <a:avLst>
              <a:gd name="adj" fmla="val 6000"/>
            </a:avLst>
          </a:prstGeom>
          <a:solidFill>
            <a:srgbClr val="13171F"/>
          </a:solidFill>
          <a:ln w="9525">
            <a:solidFill>
              <a:srgbClr val="2A2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68680" y="2898648"/>
            <a:ext cx="365760" cy="31750"/>
          </a:xfrm>
          <a:prstGeom prst="rect">
            <a:avLst/>
          </a:prstGeom>
          <a:solidFill>
            <a:srgbClr val="F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3044952"/>
            <a:ext cx="2971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1F5F9"/>
                </a:solidFill>
                <a:latin typeface="Inter"/>
              </a:rPr>
              <a:t>Talento disperso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547872"/>
            <a:ext cx="2971800" cy="17556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9CA3AF"/>
                </a:solidFill>
                <a:latin typeface="Inter"/>
              </a:rPr>
              <a:t>Más de 200 incubadoras, aceleradoras y programas universitarios — sin estándares comunes de medición ni base de datos compartida.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5112" y="2560320"/>
            <a:ext cx="3611880" cy="3017520"/>
          </a:xfrm>
          <a:prstGeom prst="roundRect">
            <a:avLst>
              <a:gd name="adj" fmla="val 6000"/>
            </a:avLst>
          </a:prstGeom>
          <a:solidFill>
            <a:srgbClr val="13171F"/>
          </a:solidFill>
          <a:ln w="9525">
            <a:solidFill>
              <a:srgbClr val="2A2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645152" y="2898648"/>
            <a:ext cx="365760" cy="31750"/>
          </a:xfrm>
          <a:prstGeom prst="rect">
            <a:avLst/>
          </a:prstGeom>
          <a:solidFill>
            <a:srgbClr val="F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45152" y="3044952"/>
            <a:ext cx="2971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1F5F9"/>
                </a:solidFill>
                <a:latin typeface="Inter"/>
              </a:rPr>
              <a:t>Programas sin trazabilidad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5152" y="3547872"/>
            <a:ext cx="2971800" cy="17556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9CA3AF"/>
                </a:solidFill>
                <a:latin typeface="Inter"/>
              </a:rPr>
              <a:t>Concursos como StartUp Perú, ProInnóvate y InnóvateMype mueven millones soles anualmente, pero el seguimiento post-financiamiento es manual y opaco.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1584" y="2560320"/>
            <a:ext cx="3611880" cy="3017520"/>
          </a:xfrm>
          <a:prstGeom prst="roundRect">
            <a:avLst>
              <a:gd name="adj" fmla="val 6000"/>
            </a:avLst>
          </a:prstGeom>
          <a:solidFill>
            <a:srgbClr val="13171F"/>
          </a:solidFill>
          <a:ln w="9525">
            <a:solidFill>
              <a:srgbClr val="2A2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421624" y="2898648"/>
            <a:ext cx="365760" cy="31750"/>
          </a:xfrm>
          <a:prstGeom prst="rect">
            <a:avLst/>
          </a:prstGeom>
          <a:solidFill>
            <a:srgbClr val="F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21624" y="3044952"/>
            <a:ext cx="2971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1F5F9"/>
                </a:solidFill>
                <a:latin typeface="Inter"/>
              </a:rPr>
              <a:t>Founders con poca preparación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21624" y="3547872"/>
            <a:ext cx="2971800" cy="17556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9CA3AF"/>
                </a:solidFill>
                <a:latin typeface="Inter"/>
              </a:rPr>
              <a:t>Solo 1 de cada 5 startups que reciben financiamiento público sobrevive al año 3. La diferencia: fundamentos de negocio, no la idea.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B7280"/>
                </a:solidFill>
                <a:latin typeface="Inter"/>
              </a:rPr>
              <a:t>Startups4Climate · Pitch MINPRO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6B7280"/>
                </a:solidFill>
                <a:latin typeface="Inter"/>
              </a:rPr>
              <a:t>2 / 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FF6B4A"/>
                </a:solidFill>
                <a:latin typeface="Inter"/>
              </a:rPr>
              <a:t>02 · EL PROBLEMA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F1F5F9"/>
                </a:solidFill>
                <a:latin typeface="Inter"/>
              </a:rPr>
              <a:t>Cada programa reinventa la rueda. Y nadie ve el cuadro completo.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2024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1F5F9"/>
                </a:solidFill>
                <a:latin typeface="Inter"/>
              </a:rPr>
              <a:t>Lo que pasa hoy en cada programa: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2423160"/>
            <a:ext cx="64008" cy="64008"/>
          </a:xfrm>
          <a:prstGeom prst="ellipse">
            <a:avLst/>
          </a:prstGeom>
          <a:solidFill>
            <a:srgbClr val="F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2331720"/>
            <a:ext cx="5303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CBD5E1"/>
                </a:solidFill>
                <a:latin typeface="Inter"/>
              </a:rPr>
              <a:t>Excel + WhatsApp + correos como sistema de gestión.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788920"/>
            <a:ext cx="64008" cy="64008"/>
          </a:xfrm>
          <a:prstGeom prst="ellipse">
            <a:avLst/>
          </a:prstGeom>
          <a:solidFill>
            <a:srgbClr val="F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2697480"/>
            <a:ext cx="5303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CBD5E1"/>
                </a:solidFill>
                <a:latin typeface="Inter"/>
              </a:rPr>
              <a:t>Diagnóstico inicial diferente en cada incubadora.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154680"/>
            <a:ext cx="64008" cy="64008"/>
          </a:xfrm>
          <a:prstGeom prst="ellipse">
            <a:avLst/>
          </a:prstGeom>
          <a:solidFill>
            <a:srgbClr val="F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3063240"/>
            <a:ext cx="5303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CBD5E1"/>
                </a:solidFill>
                <a:latin typeface="Inter"/>
              </a:rPr>
              <a:t>Reportes manuales que tardan semanas en consolidarse.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520440"/>
            <a:ext cx="64008" cy="64008"/>
          </a:xfrm>
          <a:prstGeom prst="ellipse">
            <a:avLst/>
          </a:prstGeom>
          <a:solidFill>
            <a:srgbClr val="F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3429000"/>
            <a:ext cx="5303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CBD5E1"/>
                </a:solidFill>
                <a:latin typeface="Inter"/>
              </a:rPr>
              <a:t>Founders sin acceso continuo a herramientas estructuradas.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886200"/>
            <a:ext cx="64008" cy="64008"/>
          </a:xfrm>
          <a:prstGeom prst="ellipse">
            <a:avLst/>
          </a:prstGeom>
          <a:solidFill>
            <a:srgbClr val="F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3794760"/>
            <a:ext cx="5303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CBD5E1"/>
                </a:solidFill>
                <a:latin typeface="Inter"/>
              </a:rPr>
              <a:t>Imposible comparar resultados entre cohortes o regiones.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4251960"/>
            <a:ext cx="64008" cy="64008"/>
          </a:xfrm>
          <a:prstGeom prst="ellipse">
            <a:avLst/>
          </a:prstGeom>
          <a:solidFill>
            <a:srgbClr val="F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4160520"/>
            <a:ext cx="5303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CBD5E1"/>
                </a:solidFill>
                <a:latin typeface="Inter"/>
              </a:rPr>
              <a:t>Data perdida cuando termina el programa.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1920240"/>
            <a:ext cx="4937760" cy="1097280"/>
          </a:xfrm>
          <a:prstGeom prst="roundRect">
            <a:avLst>
              <a:gd name="adj" fmla="val 6000"/>
            </a:avLst>
          </a:prstGeom>
          <a:solidFill>
            <a:srgbClr val="13171F"/>
          </a:solidFill>
          <a:ln w="9525">
            <a:solidFill>
              <a:srgbClr val="2A2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903720" y="2212848"/>
            <a:ext cx="292608" cy="31750"/>
          </a:xfrm>
          <a:prstGeom prst="rect">
            <a:avLst/>
          </a:prstGeom>
          <a:solidFill>
            <a:srgbClr val="F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903720" y="2377440"/>
            <a:ext cx="44805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1F5F9"/>
                </a:solidFill>
                <a:latin typeface="Inter"/>
              </a:rPr>
              <a:t>~70%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2514600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9CA3AF"/>
                </a:solidFill>
                <a:latin typeface="Inter"/>
              </a:rPr>
              <a:t>de programas no reportan tracking de KPIs post-graduación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0" y="3108960"/>
            <a:ext cx="4937760" cy="1097280"/>
          </a:xfrm>
          <a:prstGeom prst="roundRect">
            <a:avLst>
              <a:gd name="adj" fmla="val 6000"/>
            </a:avLst>
          </a:prstGeom>
          <a:solidFill>
            <a:srgbClr val="13171F"/>
          </a:solidFill>
          <a:ln w="9525">
            <a:solidFill>
              <a:srgbClr val="2A2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903720" y="3401568"/>
            <a:ext cx="292608" cy="317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903720" y="3566160"/>
            <a:ext cx="44805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1F5F9"/>
                </a:solidFill>
                <a:latin typeface="Inter"/>
              </a:rPr>
              <a:t>&gt; 6 meses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3703320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9CA3AF"/>
                </a:solidFill>
                <a:latin typeface="Inter"/>
              </a:rPr>
              <a:t>tarda un programa en preparar el reporte final consolidado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75120" y="4297680"/>
            <a:ext cx="4937760" cy="1097280"/>
          </a:xfrm>
          <a:prstGeom prst="roundRect">
            <a:avLst>
              <a:gd name="adj" fmla="val 6000"/>
            </a:avLst>
          </a:prstGeom>
          <a:solidFill>
            <a:srgbClr val="13171F"/>
          </a:solidFill>
          <a:ln w="9525">
            <a:solidFill>
              <a:srgbClr val="2A2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903720" y="4590288"/>
            <a:ext cx="292608" cy="317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903720" y="4754880"/>
            <a:ext cx="44805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1F5F9"/>
                </a:solidFill>
                <a:latin typeface="Inter"/>
              </a:rPr>
              <a:t>S/. 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4892040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9CA3AF"/>
                </a:solidFill>
                <a:latin typeface="Inter"/>
              </a:rPr>
              <a:t>visibilidad consolidada del impacto que financia el Estado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75120" y="5486400"/>
            <a:ext cx="4937760" cy="868680"/>
          </a:xfrm>
          <a:prstGeom prst="roundRect">
            <a:avLst>
              <a:gd name="adj" fmla="val 6000"/>
            </a:avLst>
          </a:prstGeom>
          <a:solidFill>
            <a:srgbClr val="13171F"/>
          </a:solidFill>
          <a:ln w="9525">
            <a:solidFill>
              <a:srgbClr val="2A2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903720" y="5779008"/>
            <a:ext cx="292608" cy="3175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903720" y="5943600"/>
            <a:ext cx="44805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1F5F9"/>
                </a:solidFill>
                <a:latin typeface="Inter"/>
              </a:rPr>
              <a:t>1 de 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03720" y="5852160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9CA3AF"/>
                </a:solidFill>
                <a:latin typeface="Inter"/>
              </a:rPr>
              <a:t>startups públicas sobrevive al año 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B7280"/>
                </a:solidFill>
                <a:latin typeface="Inter"/>
              </a:rPr>
              <a:t>Startups4Climate · Pitch MINPRO 2026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6B7280"/>
                </a:solidFill>
                <a:latin typeface="Inter"/>
              </a:rPr>
              <a:t>3 / 19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FF6B4A"/>
                </a:solidFill>
                <a:latin typeface="Inter"/>
              </a:rPr>
              <a:t>03 · NUESTRA PROPUESTA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F1F5F9"/>
                </a:solidFill>
                <a:latin typeface="Inter"/>
              </a:rPr>
              <a:t>Startups4Climate: el sistema operativo del ecosistema.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9CA3AF"/>
                </a:solidFill>
                <a:latin typeface="Inter"/>
              </a:rPr>
              <a:t>Una sola plataforma con tres capas integradas. Cada usuario ve lo suyo. El Ministerio ve todo el sistema en tiempo real.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291840"/>
            <a:ext cx="3611880" cy="2926080"/>
          </a:xfrm>
          <a:prstGeom prst="roundRect">
            <a:avLst>
              <a:gd name="adj" fmla="val 6000"/>
            </a:avLst>
          </a:prstGeom>
          <a:solidFill>
            <a:srgbClr val="13171F"/>
          </a:solidFill>
          <a:ln w="9525">
            <a:solidFill>
              <a:srgbClr val="2A2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3611880"/>
            <a:ext cx="2971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FF6B4A"/>
                </a:solidFill>
                <a:latin typeface="Inter"/>
              </a:rPr>
              <a:t>CAPA 1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3922776"/>
            <a:ext cx="365760" cy="31750"/>
          </a:xfrm>
          <a:prstGeom prst="rect">
            <a:avLst/>
          </a:prstGeom>
          <a:solidFill>
            <a:srgbClr val="F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4069080"/>
            <a:ext cx="2971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1F5F9"/>
                </a:solidFill>
                <a:latin typeface="Inter"/>
              </a:rPr>
              <a:t>Founders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572000"/>
            <a:ext cx="29718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9CA3AF"/>
                </a:solidFill>
                <a:latin typeface="Inter"/>
              </a:rPr>
              <a:t>Herramientas + AI mentor.
Diagnóstico, plan de negocios, finanzas, pitch — todo guiado y exportable.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3291840"/>
            <a:ext cx="3611880" cy="2926080"/>
          </a:xfrm>
          <a:prstGeom prst="roundRect">
            <a:avLst>
              <a:gd name="adj" fmla="val 6000"/>
            </a:avLst>
          </a:prstGeom>
          <a:solidFill>
            <a:srgbClr val="13171F"/>
          </a:solidFill>
          <a:ln w="9525">
            <a:solidFill>
              <a:srgbClr val="2A2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45152" y="3611880"/>
            <a:ext cx="2971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0D9488"/>
                </a:solidFill>
                <a:latin typeface="Inter"/>
              </a:rPr>
              <a:t>CAPA 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45152" y="3922776"/>
            <a:ext cx="365760" cy="3175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45152" y="4069080"/>
            <a:ext cx="2971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1F5F9"/>
                </a:solidFill>
                <a:latin typeface="Inter"/>
              </a:rPr>
              <a:t>Organizaciones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5152" y="4572000"/>
            <a:ext cx="29718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9CA3AF"/>
                </a:solidFill>
                <a:latin typeface="Inter"/>
              </a:rPr>
              <a:t>Incubadoras, aceleradoras, universidades.
Cohortes, invitaciones, dashboard, reportes Excel y benchmarking.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01584" y="3291840"/>
            <a:ext cx="3611880" cy="2926080"/>
          </a:xfrm>
          <a:prstGeom prst="roundRect">
            <a:avLst>
              <a:gd name="adj" fmla="val 6000"/>
            </a:avLst>
          </a:prstGeom>
          <a:solidFill>
            <a:srgbClr val="13171F"/>
          </a:solidFill>
          <a:ln w="9525">
            <a:solidFill>
              <a:srgbClr val="2A2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21624" y="3611880"/>
            <a:ext cx="2971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F59E0B"/>
                </a:solidFill>
                <a:latin typeface="Inter"/>
              </a:rPr>
              <a:t>CAPA 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21624" y="3922776"/>
            <a:ext cx="365760" cy="317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21624" y="4069080"/>
            <a:ext cx="2971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1F5F9"/>
                </a:solidFill>
                <a:latin typeface="Inter"/>
              </a:rPr>
              <a:t>MINPRO / Ente rector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21624" y="4572000"/>
            <a:ext cx="29718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9CA3AF"/>
                </a:solidFill>
                <a:latin typeface="Inter"/>
              </a:rPr>
              <a:t>Vista nacional comparativa.
Programas, regiones, verticales, presupuesto, hitos, impacto y ROI.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B7280"/>
                </a:solidFill>
                <a:latin typeface="Inter"/>
              </a:rPr>
              <a:t>Startups4Climate · Pitch MINPRO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6B7280"/>
                </a:solidFill>
                <a:latin typeface="Inter"/>
              </a:rPr>
              <a:t>4 / 19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FF6B4A"/>
                </a:solidFill>
                <a:latin typeface="Inter"/>
              </a:rPr>
              <a:t>04 · QUIÉNES SOMOS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058400" cy="10972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3600" b="1">
                <a:solidFill>
                  <a:srgbClr val="F1F5F9"/>
                </a:solidFill>
                <a:latin typeface="Inter"/>
              </a:rPr>
              <a:t>Construido por Re</a:t>
            </a:r>
            <a:r>
              <a:rPr sz="3600" b="1">
                <a:solidFill>
                  <a:srgbClr val="E63946"/>
                </a:solidFill>
                <a:latin typeface="Inter"/>
              </a:rPr>
              <a:t>.</a:t>
            </a:r>
            <a:r>
              <a:rPr sz="3600" b="1">
                <a:solidFill>
                  <a:srgbClr val="F1F5F9"/>
                </a:solidFill>
                <a:latin typeface="Inter"/>
              </a:rPr>
              <a:t>design </a:t>
            </a:r>
            <a:r>
              <a:rPr sz="3600" b="1">
                <a:solidFill>
                  <a:srgbClr val="E63946"/>
                </a:solidFill>
                <a:latin typeface="Inter"/>
              </a:rPr>
              <a:t>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6596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9CA3AF"/>
                </a:solidFill>
                <a:latin typeface="Inter"/>
              </a:rPr>
              <a:t>Estudio peruano de innovación con foco en infraestructura digital para emprendimiento de impacto en Latinoamérica.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108960"/>
            <a:ext cx="2743200" cy="1280160"/>
          </a:xfrm>
          <a:prstGeom prst="roundRect">
            <a:avLst>
              <a:gd name="adj" fmla="val 6000"/>
            </a:avLst>
          </a:prstGeom>
          <a:solidFill>
            <a:srgbClr val="13171F"/>
          </a:solidFill>
          <a:ln w="9525">
            <a:solidFill>
              <a:srgbClr val="2A2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77240" y="3401568"/>
            <a:ext cx="292608" cy="3175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3566160"/>
            <a:ext cx="2286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1F5F9"/>
                </a:solidFill>
                <a:latin typeface="Inter"/>
              </a:rPr>
              <a:t>5+ años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88620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9CA3AF"/>
                </a:solidFill>
                <a:latin typeface="Inter"/>
              </a:rPr>
              <a:t>diseñando programas de innovación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10712" y="3108960"/>
            <a:ext cx="2743200" cy="1280160"/>
          </a:xfrm>
          <a:prstGeom prst="roundRect">
            <a:avLst>
              <a:gd name="adj" fmla="val 6000"/>
            </a:avLst>
          </a:prstGeom>
          <a:solidFill>
            <a:srgbClr val="13171F"/>
          </a:solidFill>
          <a:ln w="9525">
            <a:solidFill>
              <a:srgbClr val="2A2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39312" y="3401568"/>
            <a:ext cx="292608" cy="3175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39312" y="3566160"/>
            <a:ext cx="2286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1F5F9"/>
                </a:solidFill>
                <a:latin typeface="Inter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9312" y="388620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9CA3AF"/>
                </a:solidFill>
                <a:latin typeface="Inter"/>
              </a:rPr>
              <a:t>universidades clientes activas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72784" y="3108960"/>
            <a:ext cx="2743200" cy="1280160"/>
          </a:xfrm>
          <a:prstGeom prst="roundRect">
            <a:avLst>
              <a:gd name="adj" fmla="val 6000"/>
            </a:avLst>
          </a:prstGeom>
          <a:solidFill>
            <a:srgbClr val="13171F"/>
          </a:solidFill>
          <a:ln w="9525">
            <a:solidFill>
              <a:srgbClr val="2A2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501384" y="3401568"/>
            <a:ext cx="292608" cy="3175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01384" y="3566160"/>
            <a:ext cx="2286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1F5F9"/>
                </a:solidFill>
                <a:latin typeface="Inter"/>
              </a:rPr>
              <a:t>17+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1384" y="388620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9CA3AF"/>
                </a:solidFill>
                <a:latin typeface="Inter"/>
              </a:rPr>
              <a:t>founders con cuenta activa en piloto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34856" y="3108960"/>
            <a:ext cx="2743200" cy="1280160"/>
          </a:xfrm>
          <a:prstGeom prst="roundRect">
            <a:avLst>
              <a:gd name="adj" fmla="val 6000"/>
            </a:avLst>
          </a:prstGeom>
          <a:solidFill>
            <a:srgbClr val="13171F"/>
          </a:solidFill>
          <a:ln w="9525">
            <a:solidFill>
              <a:srgbClr val="2A2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363456" y="3401568"/>
            <a:ext cx="292608" cy="3175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363456" y="3566160"/>
            <a:ext cx="2286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1F5F9"/>
                </a:solidFill>
                <a:latin typeface="Inter"/>
              </a:rPr>
              <a:t>LATAM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63456" y="388620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9CA3AF"/>
                </a:solidFill>
                <a:latin typeface="Inter"/>
              </a:rPr>
              <a:t>foco regional · sede en Lima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663440"/>
            <a:ext cx="11091672" cy="1554480"/>
          </a:xfrm>
          <a:prstGeom prst="roundRect">
            <a:avLst>
              <a:gd name="adj" fmla="val 4000"/>
            </a:avLst>
          </a:prstGeom>
          <a:solidFill>
            <a:srgbClr val="1E2330"/>
          </a:solidFill>
          <a:ln w="9525">
            <a:solidFill>
              <a:srgbClr val="2A2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4846320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FF6B4A"/>
                </a:solidFill>
                <a:latin typeface="Inter"/>
              </a:rPr>
              <a:t>NUESTRA MISIÓN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074920"/>
            <a:ext cx="1033272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1">
                <a:solidFill>
                  <a:srgbClr val="F1F5F9"/>
                </a:solidFill>
                <a:latin typeface="Inter"/>
              </a:rPr>
              <a:t>"Democratizar el desarrollo de startups de impacto en Latinoamérica construyendo la infraestructura operativa que founders, organizaciones y entes públicos necesitan para dejar de improvisar."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B7280"/>
                </a:solidFill>
                <a:latin typeface="Inter"/>
              </a:rPr>
              <a:t>Startups4Climate · Pitch MINPRO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6B7280"/>
                </a:solidFill>
                <a:latin typeface="Inter"/>
              </a:rPr>
              <a:t>5 / 19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FF6B4A"/>
                </a:solidFill>
                <a:latin typeface="Inter"/>
              </a:rPr>
              <a:t>05 · TRACCIÓN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F1F5F9"/>
                </a:solidFill>
                <a:latin typeface="Inter"/>
              </a:rPr>
              <a:t>Ya operativos en 3 universidades — antes de marketing externo.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9CA3AF"/>
                </a:solidFill>
                <a:latin typeface="Inter"/>
              </a:rPr>
              <a:t>Llevamos meses validando con instituciones reales. Esto es lo que vemos.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606040"/>
            <a:ext cx="3611880" cy="1371600"/>
          </a:xfrm>
          <a:prstGeom prst="roundRect">
            <a:avLst>
              <a:gd name="adj" fmla="val 5000"/>
            </a:avLst>
          </a:prstGeom>
          <a:solidFill>
            <a:srgbClr val="13171F"/>
          </a:solidFill>
          <a:ln w="9525">
            <a:solidFill>
              <a:srgbClr val="2A2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68680" y="2788920"/>
            <a:ext cx="365760" cy="3175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2926080"/>
            <a:ext cx="2971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F1F5F9"/>
                </a:solidFill>
                <a:latin typeface="Inter"/>
              </a:rPr>
              <a:t>UNAMAD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337560"/>
            <a:ext cx="29718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9CA3AF"/>
                </a:solidFill>
                <a:latin typeface="Inter"/>
              </a:rPr>
              <a:t>Univ. Nacional Amazónica de Madre de Dios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5112" y="2606040"/>
            <a:ext cx="3611880" cy="1371600"/>
          </a:xfrm>
          <a:prstGeom prst="roundRect">
            <a:avLst>
              <a:gd name="adj" fmla="val 5000"/>
            </a:avLst>
          </a:prstGeom>
          <a:solidFill>
            <a:srgbClr val="13171F"/>
          </a:solidFill>
          <a:ln w="9525">
            <a:solidFill>
              <a:srgbClr val="2A2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645152" y="2788920"/>
            <a:ext cx="365760" cy="317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45152" y="2926080"/>
            <a:ext cx="2971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F1F5F9"/>
                </a:solidFill>
                <a:latin typeface="Inter"/>
              </a:rPr>
              <a:t>Wiener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5152" y="3337560"/>
            <a:ext cx="29718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9CA3AF"/>
                </a:solidFill>
                <a:latin typeface="Inter"/>
              </a:rPr>
              <a:t>Universidad Privada Norbert Wiener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1584" y="2606040"/>
            <a:ext cx="3611880" cy="1371600"/>
          </a:xfrm>
          <a:prstGeom prst="roundRect">
            <a:avLst>
              <a:gd name="adj" fmla="val 5000"/>
            </a:avLst>
          </a:prstGeom>
          <a:solidFill>
            <a:srgbClr val="13171F"/>
          </a:solidFill>
          <a:ln w="9525">
            <a:solidFill>
              <a:srgbClr val="2A2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421624" y="2788920"/>
            <a:ext cx="365760" cy="31750"/>
          </a:xfrm>
          <a:prstGeom prst="rect">
            <a:avLst/>
          </a:prstGeom>
          <a:solidFill>
            <a:srgbClr val="F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21624" y="2926080"/>
            <a:ext cx="2971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F1F5F9"/>
                </a:solidFill>
                <a:latin typeface="Inter"/>
              </a:rPr>
              <a:t>BioInnova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21624" y="3337560"/>
            <a:ext cx="29718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9CA3AF"/>
                </a:solidFill>
                <a:latin typeface="Inter"/>
              </a:rPr>
              <a:t>Programa de bioemprendimiento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297680"/>
            <a:ext cx="2743200" cy="1371600"/>
          </a:xfrm>
          <a:prstGeom prst="roundRect">
            <a:avLst>
              <a:gd name="adj" fmla="val 6000"/>
            </a:avLst>
          </a:prstGeom>
          <a:solidFill>
            <a:srgbClr val="13171F"/>
          </a:solidFill>
          <a:ln w="9525">
            <a:solidFill>
              <a:srgbClr val="2A2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" y="4590288"/>
            <a:ext cx="292608" cy="31750"/>
          </a:xfrm>
          <a:prstGeom prst="rect">
            <a:avLst/>
          </a:prstGeom>
          <a:solidFill>
            <a:srgbClr val="F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" y="4754880"/>
            <a:ext cx="2286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1F5F9"/>
                </a:solidFill>
                <a:latin typeface="Inter"/>
              </a:rPr>
              <a:t>30+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16636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9CA3AF"/>
                </a:solidFill>
                <a:latin typeface="Inter"/>
              </a:rPr>
              <a:t>Herramientas funcionales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10712" y="4297680"/>
            <a:ext cx="2743200" cy="1371600"/>
          </a:xfrm>
          <a:prstGeom prst="roundRect">
            <a:avLst>
              <a:gd name="adj" fmla="val 6000"/>
            </a:avLst>
          </a:prstGeom>
          <a:solidFill>
            <a:srgbClr val="13171F"/>
          </a:solidFill>
          <a:ln w="9525">
            <a:solidFill>
              <a:srgbClr val="2A2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639312" y="4590288"/>
            <a:ext cx="292608" cy="3175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639312" y="4754880"/>
            <a:ext cx="2286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1F5F9"/>
                </a:solidFill>
                <a:latin typeface="Inter"/>
              </a:rPr>
              <a:t>200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39312" y="516636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9CA3AF"/>
                </a:solidFill>
                <a:latin typeface="Inter"/>
              </a:rPr>
              <a:t>Founders activos en pipeline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72784" y="4297680"/>
            <a:ext cx="2743200" cy="1371600"/>
          </a:xfrm>
          <a:prstGeom prst="roundRect">
            <a:avLst>
              <a:gd name="adj" fmla="val 6000"/>
            </a:avLst>
          </a:prstGeom>
          <a:solidFill>
            <a:srgbClr val="13171F"/>
          </a:solidFill>
          <a:ln w="9525">
            <a:solidFill>
              <a:srgbClr val="2A2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501384" y="4590288"/>
            <a:ext cx="292608" cy="317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01384" y="4754880"/>
            <a:ext cx="2286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1F5F9"/>
                </a:solidFill>
                <a:latin typeface="Inter"/>
              </a:rPr>
              <a:t>30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01384" y="516636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9CA3AF"/>
                </a:solidFill>
                <a:latin typeface="Inter"/>
              </a:rPr>
              <a:t>Universidades target Q3 2026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34856" y="4297680"/>
            <a:ext cx="2743200" cy="1371600"/>
          </a:xfrm>
          <a:prstGeom prst="roundRect">
            <a:avLst>
              <a:gd name="adj" fmla="val 6000"/>
            </a:avLst>
          </a:prstGeom>
          <a:solidFill>
            <a:srgbClr val="13171F"/>
          </a:solidFill>
          <a:ln w="9525">
            <a:solidFill>
              <a:srgbClr val="2A2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363456" y="4590288"/>
            <a:ext cx="292608" cy="3175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363456" y="4754880"/>
            <a:ext cx="2286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1F5F9"/>
                </a:solidFill>
                <a:latin typeface="Inter"/>
              </a:rPr>
              <a:t>99.9%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63456" y="516636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9CA3AF"/>
                </a:solidFill>
                <a:latin typeface="Inter"/>
              </a:rPr>
              <a:t>Uptime últimos 30 días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58978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1">
                <a:solidFill>
                  <a:srgbClr val="6B7280"/>
                </a:solidFill>
                <a:latin typeface="Inter"/>
              </a:rPr>
              <a:t>Producción estable en startups4climate.vercel.app · Plan de escala: 200 founders + 30 universidades en 30 días.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B7280"/>
                </a:solidFill>
                <a:latin typeface="Inter"/>
              </a:rPr>
              <a:t>Startups4Climate · Pitch MINPRO 2026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6B7280"/>
                </a:solidFill>
                <a:latin typeface="Inter"/>
              </a:rPr>
              <a:t>6 / 19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FF6B4A"/>
                </a:solidFill>
                <a:latin typeface="Inter"/>
              </a:rPr>
              <a:t>06 · CAPA 1 — FOUNDERS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F1F5F9"/>
                </a:solidFill>
                <a:latin typeface="Inter"/>
              </a:rPr>
              <a:t>Una caja de herramientas profesional que reemplaza 30+ servicios.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9CA3AF"/>
                </a:solidFill>
                <a:latin typeface="Inter"/>
              </a:rPr>
              <a:t>Acceso gratuito para founders. Cada herramienta es accionable, guarda progreso y exporta reportes en PDF.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697480"/>
            <a:ext cx="2743200" cy="1463040"/>
          </a:xfrm>
          <a:prstGeom prst="roundRect">
            <a:avLst>
              <a:gd name="adj" fmla="val 6000"/>
            </a:avLst>
          </a:prstGeom>
          <a:solidFill>
            <a:srgbClr val="13171F"/>
          </a:solidFill>
          <a:ln w="9525">
            <a:solidFill>
              <a:srgbClr val="2A2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288036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1F5F9"/>
                </a:solidFill>
                <a:latin typeface="Inter"/>
              </a:rPr>
              <a:t>Diagnóstico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246120"/>
            <a:ext cx="22860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9CA3AF"/>
                </a:solidFill>
                <a:latin typeface="Inter"/>
              </a:rPr>
              <a:t>Startup Readiness Score con 60+ preguntas y plan de acción.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10712" y="2697480"/>
            <a:ext cx="2743200" cy="1463040"/>
          </a:xfrm>
          <a:prstGeom prst="roundRect">
            <a:avLst>
              <a:gd name="adj" fmla="val 6000"/>
            </a:avLst>
          </a:prstGeom>
          <a:solidFill>
            <a:srgbClr val="13171F"/>
          </a:solidFill>
          <a:ln w="9525">
            <a:solidFill>
              <a:srgbClr val="2A2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39312" y="288036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1F5F9"/>
                </a:solidFill>
                <a:latin typeface="Inter"/>
              </a:rPr>
              <a:t>Plan de negocios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39312" y="3246120"/>
            <a:ext cx="22860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9CA3AF"/>
                </a:solidFill>
                <a:latin typeface="Inter"/>
              </a:rPr>
              <a:t>Lean Canvas, Business Model, Value Proposition Canvas.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2784" y="2697480"/>
            <a:ext cx="2743200" cy="1463040"/>
          </a:xfrm>
          <a:prstGeom prst="roundRect">
            <a:avLst>
              <a:gd name="adj" fmla="val 6000"/>
            </a:avLst>
          </a:prstGeom>
          <a:solidFill>
            <a:srgbClr val="13171F"/>
          </a:solidFill>
          <a:ln w="9525">
            <a:solidFill>
              <a:srgbClr val="2A2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01384" y="288036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1F5F9"/>
                </a:solidFill>
                <a:latin typeface="Inter"/>
              </a:rPr>
              <a:t>Finanzas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1384" y="3246120"/>
            <a:ext cx="22860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9CA3AF"/>
                </a:solidFill>
                <a:latin typeface="Inter"/>
              </a:rPr>
              <a:t>Unit economics, proyecciones, cap table, runway, fundraising.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34856" y="2697480"/>
            <a:ext cx="2743200" cy="1463040"/>
          </a:xfrm>
          <a:prstGeom prst="roundRect">
            <a:avLst>
              <a:gd name="adj" fmla="val 6000"/>
            </a:avLst>
          </a:prstGeom>
          <a:solidFill>
            <a:srgbClr val="13171F"/>
          </a:solidFill>
          <a:ln w="9525">
            <a:solidFill>
              <a:srgbClr val="2A2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363456" y="288036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1F5F9"/>
                </a:solidFill>
                <a:latin typeface="Inter"/>
              </a:rPr>
              <a:t>Mercado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63456" y="3246120"/>
            <a:ext cx="22860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9CA3AF"/>
                </a:solidFill>
                <a:latin typeface="Inter"/>
              </a:rPr>
              <a:t>TAM/SAM/SOM, JTBD, segmentación, MVP roadmap.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279392"/>
            <a:ext cx="2743200" cy="1463040"/>
          </a:xfrm>
          <a:prstGeom prst="roundRect">
            <a:avLst>
              <a:gd name="adj" fmla="val 6000"/>
            </a:avLst>
          </a:prstGeom>
          <a:solidFill>
            <a:srgbClr val="13171F"/>
          </a:solidFill>
          <a:ln w="9525">
            <a:solidFill>
              <a:srgbClr val="2A2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4462272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1F5F9"/>
                </a:solidFill>
                <a:latin typeface="Inter"/>
              </a:rPr>
              <a:t>Pitch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828032"/>
            <a:ext cx="22860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9CA3AF"/>
                </a:solidFill>
                <a:latin typeface="Inter"/>
              </a:rPr>
              <a:t>Pitch deck guiado, narrativa, demo day prep.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10712" y="4279392"/>
            <a:ext cx="2743200" cy="1463040"/>
          </a:xfrm>
          <a:prstGeom prst="roundRect">
            <a:avLst>
              <a:gd name="adj" fmla="val 6000"/>
            </a:avLst>
          </a:prstGeom>
          <a:solidFill>
            <a:srgbClr val="13171F"/>
          </a:solidFill>
          <a:ln w="9525">
            <a:solidFill>
              <a:srgbClr val="2A2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639312" y="4462272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1F5F9"/>
                </a:solidFill>
                <a:latin typeface="Inter"/>
              </a:rPr>
              <a:t>Mentor 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39312" y="4828032"/>
            <a:ext cx="22860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9CA3AF"/>
                </a:solidFill>
                <a:latin typeface="Inter"/>
              </a:rPr>
              <a:t>Gemini 2.5 Flash con contexto del founder y vertical.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72784" y="4279392"/>
            <a:ext cx="2743200" cy="1463040"/>
          </a:xfrm>
          <a:prstGeom prst="roundRect">
            <a:avLst>
              <a:gd name="adj" fmla="val 6000"/>
            </a:avLst>
          </a:prstGeom>
          <a:solidFill>
            <a:srgbClr val="13171F"/>
          </a:solidFill>
          <a:ln w="9525">
            <a:solidFill>
              <a:srgbClr val="2A2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01384" y="4462272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1F5F9"/>
                </a:solidFill>
                <a:latin typeface="Inter"/>
              </a:rPr>
              <a:t>Passport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01384" y="4828032"/>
            <a:ext cx="22860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9CA3AF"/>
                </a:solidFill>
                <a:latin typeface="Inter"/>
              </a:rPr>
              <a:t>Identidad pública compartible con investors y aceleradoras.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34856" y="4279392"/>
            <a:ext cx="2743200" cy="1463040"/>
          </a:xfrm>
          <a:prstGeom prst="roundRect">
            <a:avLst>
              <a:gd name="adj" fmla="val 6000"/>
            </a:avLst>
          </a:prstGeom>
          <a:solidFill>
            <a:srgbClr val="13171F"/>
          </a:solidFill>
          <a:ln w="9525">
            <a:solidFill>
              <a:srgbClr val="2A2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363456" y="4462272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1F5F9"/>
                </a:solidFill>
                <a:latin typeface="Inter"/>
              </a:rPr>
              <a:t>Reportes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63456" y="4828032"/>
            <a:ext cx="22860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9CA3AF"/>
                </a:solidFill>
                <a:latin typeface="Inter"/>
              </a:rPr>
              <a:t>Exportables PDF con marca de la organización.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B7280"/>
                </a:solidFill>
                <a:latin typeface="Inter"/>
              </a:rPr>
              <a:t>Startups4Climate · Pitch MINPRO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6B7280"/>
                </a:solidFill>
                <a:latin typeface="Inter"/>
              </a:rPr>
              <a:t>7 / 19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FF6B4A"/>
                </a:solidFill>
                <a:latin typeface="Inter"/>
              </a:rPr>
              <a:t>07 · FUNDAMENTO METODOLÓGICO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1556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F1F5F9"/>
                </a:solidFill>
                <a:latin typeface="Inter"/>
              </a:rPr>
              <a:t>Cada herramienta está construida sobre marcos académicos validados.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9CA3AF"/>
                </a:solidFill>
                <a:latin typeface="Inter"/>
              </a:rPr>
              <a:t>No reinventamos la rueda: sintetizamos lo mejor de MIT, Stanford, Strategyzer, Y Combinator, GIIN y otros — y lo hacemos accionable en español, gratis para founders LATAM.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697480"/>
            <a:ext cx="2743200" cy="1691640"/>
          </a:xfrm>
          <a:prstGeom prst="roundRect">
            <a:avLst>
              <a:gd name="adj" fmla="val 6000"/>
            </a:avLst>
          </a:prstGeom>
          <a:solidFill>
            <a:srgbClr val="13171F"/>
          </a:solidFill>
          <a:ln w="9525">
            <a:solidFill>
              <a:srgbClr val="2A2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49808" y="2862072"/>
            <a:ext cx="384048" cy="31750"/>
          </a:xfrm>
          <a:prstGeom prst="rect">
            <a:avLst/>
          </a:prstGeom>
          <a:solidFill>
            <a:srgbClr val="F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2898648"/>
            <a:ext cx="234086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>
                <a:solidFill>
                  <a:srgbClr val="FF6B4A"/>
                </a:solidFill>
                <a:latin typeface="Inter"/>
              </a:rPr>
              <a:t>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3154680"/>
            <a:ext cx="234086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1F5F9"/>
                </a:solidFill>
                <a:latin typeface="Inter"/>
              </a:rPr>
              <a:t>Disciplined Entrepreneurship — 24 Steps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3566160"/>
            <a:ext cx="234086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1">
                <a:solidFill>
                  <a:srgbClr val="9CA3AF"/>
                </a:solidFill>
                <a:latin typeface="Inter"/>
              </a:rPr>
              <a:t>Bill Aulet · MIT Martin Trust Center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813048"/>
            <a:ext cx="2340864" cy="4846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 i="0">
                <a:solidFill>
                  <a:srgbClr val="CBD5E1"/>
                </a:solidFill>
                <a:latin typeface="Inter"/>
              </a:rPr>
              <a:t>Beachhead Market, End User Profile, Persona, Full Lifecycle Use Case, QVP, DMU, Core, MVBP.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10712" y="2697480"/>
            <a:ext cx="2743200" cy="1691640"/>
          </a:xfrm>
          <a:prstGeom prst="roundRect">
            <a:avLst>
              <a:gd name="adj" fmla="val 6000"/>
            </a:avLst>
          </a:prstGeom>
          <a:solidFill>
            <a:srgbClr val="13171F"/>
          </a:solidFill>
          <a:ln w="9525">
            <a:solidFill>
              <a:srgbClr val="2A2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611880" y="2862072"/>
            <a:ext cx="384048" cy="317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11880" y="2898648"/>
            <a:ext cx="234086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>
                <a:solidFill>
                  <a:srgbClr val="3B82F6"/>
                </a:solidFill>
                <a:latin typeface="Inter"/>
              </a:rPr>
              <a:t>STANFORD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3154680"/>
            <a:ext cx="234086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1F5F9"/>
                </a:solidFill>
                <a:latin typeface="Inter"/>
              </a:rPr>
              <a:t>Customer Development &amp; Lean Startup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3566160"/>
            <a:ext cx="234086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1">
                <a:solidFill>
                  <a:srgbClr val="9CA3AF"/>
                </a:solidFill>
                <a:latin typeface="Inter"/>
              </a:rPr>
              <a:t>Steve Blank · Eric Ries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3813048"/>
            <a:ext cx="2340864" cy="4846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 i="0">
                <a:solidFill>
                  <a:srgbClr val="CBD5E1"/>
                </a:solidFill>
                <a:latin typeface="Inter"/>
              </a:rPr>
              <a:t>Key Assumptions, MVP Definition, Traction Validation, First 10 Customers.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72784" y="2697480"/>
            <a:ext cx="2743200" cy="1691640"/>
          </a:xfrm>
          <a:prstGeom prst="roundRect">
            <a:avLst>
              <a:gd name="adj" fmla="val 6000"/>
            </a:avLst>
          </a:prstGeom>
          <a:solidFill>
            <a:srgbClr val="13171F"/>
          </a:solidFill>
          <a:ln w="9525">
            <a:solidFill>
              <a:srgbClr val="2A2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73952" y="2862072"/>
            <a:ext cx="384048" cy="3175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73952" y="2898648"/>
            <a:ext cx="234086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>
                <a:solidFill>
                  <a:srgbClr val="0D9488"/>
                </a:solidFill>
                <a:latin typeface="Inter"/>
              </a:rPr>
              <a:t>STRATEGYZER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3952" y="3154680"/>
            <a:ext cx="234086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1F5F9"/>
                </a:solidFill>
                <a:latin typeface="Inter"/>
              </a:rPr>
              <a:t>Business Model &amp; Value Prop Canvas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3952" y="3566160"/>
            <a:ext cx="234086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1">
                <a:solidFill>
                  <a:srgbClr val="9CA3AF"/>
                </a:solidFill>
                <a:latin typeface="Inter"/>
              </a:rPr>
              <a:t>Alexander Osterwalder · Yves Pigneur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3952" y="3813048"/>
            <a:ext cx="2340864" cy="4846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 i="0">
                <a:solidFill>
                  <a:srgbClr val="CBD5E1"/>
                </a:solidFill>
                <a:latin typeface="Inter"/>
              </a:rPr>
              <a:t>Business Model Design, Quantified Value Prop, Pricing Framework.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34856" y="2697480"/>
            <a:ext cx="2743200" cy="1691640"/>
          </a:xfrm>
          <a:prstGeom prst="roundRect">
            <a:avLst>
              <a:gd name="adj" fmla="val 6000"/>
            </a:avLst>
          </a:prstGeom>
          <a:solidFill>
            <a:srgbClr val="13171F"/>
          </a:solidFill>
          <a:ln w="9525">
            <a:solidFill>
              <a:srgbClr val="2A2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336024" y="2862072"/>
            <a:ext cx="384048" cy="3175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336024" y="2898648"/>
            <a:ext cx="234086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>
                <a:solidFill>
                  <a:srgbClr val="0D9488"/>
                </a:solidFill>
                <a:latin typeface="Inter"/>
              </a:rPr>
              <a:t>LEANSTACK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36024" y="3154680"/>
            <a:ext cx="234086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1F5F9"/>
                </a:solidFill>
                <a:latin typeface="Inter"/>
              </a:rPr>
              <a:t>Lean Canvas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36024" y="3566160"/>
            <a:ext cx="234086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1">
                <a:solidFill>
                  <a:srgbClr val="9CA3AF"/>
                </a:solidFill>
                <a:latin typeface="Inter"/>
              </a:rPr>
              <a:t>Ash Maurya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36024" y="3813048"/>
            <a:ext cx="2340864" cy="4846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 i="0">
                <a:solidFill>
                  <a:srgbClr val="CBD5E1"/>
                </a:solidFill>
                <a:latin typeface="Inter"/>
              </a:rPr>
              <a:t>Lean Canvas — versión 1-página optimizada para startups en stage temprano.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4507992"/>
            <a:ext cx="2743200" cy="1691640"/>
          </a:xfrm>
          <a:prstGeom prst="roundRect">
            <a:avLst>
              <a:gd name="adj" fmla="val 6000"/>
            </a:avLst>
          </a:prstGeom>
          <a:solidFill>
            <a:srgbClr val="13171F"/>
          </a:solidFill>
          <a:ln w="9525">
            <a:solidFill>
              <a:srgbClr val="2A2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49808" y="4672584"/>
            <a:ext cx="384048" cy="317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49808" y="4709160"/>
            <a:ext cx="234086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>
                <a:solidFill>
                  <a:srgbClr val="3B82F6"/>
                </a:solidFill>
                <a:latin typeface="Inter"/>
              </a:rPr>
              <a:t>STANFORD d.school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8" y="4965192"/>
            <a:ext cx="234086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1F5F9"/>
                </a:solidFill>
                <a:latin typeface="Inter"/>
              </a:rPr>
              <a:t>Design Thinking &amp; Purpose-Driven Founding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8" y="5376672"/>
            <a:ext cx="234086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1">
                <a:solidFill>
                  <a:srgbClr val="9CA3AF"/>
                </a:solidFill>
                <a:latin typeface="Inter"/>
              </a:rPr>
              <a:t>Stanford d.school · IDEO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8" y="5623560"/>
            <a:ext cx="2340864" cy="4846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 i="0">
                <a:solidFill>
                  <a:srgbClr val="CBD5E1"/>
                </a:solidFill>
                <a:latin typeface="Inter"/>
              </a:rPr>
              <a:t>Passion &amp; Purpose, framing del problema, discovery del founder.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410712" y="4507992"/>
            <a:ext cx="2743200" cy="1691640"/>
          </a:xfrm>
          <a:prstGeom prst="roundRect">
            <a:avLst>
              <a:gd name="adj" fmla="val 6000"/>
            </a:avLst>
          </a:prstGeom>
          <a:solidFill>
            <a:srgbClr val="13171F"/>
          </a:solidFill>
          <a:ln w="9525">
            <a:solidFill>
              <a:srgbClr val="2A2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3611880" y="4672584"/>
            <a:ext cx="384048" cy="317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611880" y="4709160"/>
            <a:ext cx="234086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>
                <a:solidFill>
                  <a:srgbClr val="F59E0B"/>
                </a:solidFill>
                <a:latin typeface="Inter"/>
              </a:rPr>
              <a:t>Y COMBINATOR · SEQUOIA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11880" y="4965192"/>
            <a:ext cx="234086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1F5F9"/>
                </a:solidFill>
                <a:latin typeface="Inter"/>
              </a:rPr>
              <a:t>Pitch &amp; Fundraising Frameworks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11880" y="5376672"/>
            <a:ext cx="234086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1">
                <a:solidFill>
                  <a:srgbClr val="9CA3AF"/>
                </a:solidFill>
                <a:latin typeface="Inter"/>
              </a:rPr>
              <a:t>YC Demo Day · Sequoia Memo · a16z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11880" y="5623560"/>
            <a:ext cx="2340864" cy="4846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 i="0">
                <a:solidFill>
                  <a:srgbClr val="CBD5E1"/>
                </a:solidFill>
                <a:latin typeface="Inter"/>
              </a:rPr>
              <a:t>Pitch Deck guiado, narrativa de inversión, cap table y dilución.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2784" y="4507992"/>
            <a:ext cx="2743200" cy="1691640"/>
          </a:xfrm>
          <a:prstGeom prst="roundRect">
            <a:avLst>
              <a:gd name="adj" fmla="val 6000"/>
            </a:avLst>
          </a:prstGeom>
          <a:solidFill>
            <a:srgbClr val="13171F"/>
          </a:solidFill>
          <a:ln w="9525">
            <a:solidFill>
              <a:srgbClr val="2A2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6473952" y="4672584"/>
            <a:ext cx="384048" cy="317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473952" y="4709160"/>
            <a:ext cx="234086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>
                <a:solidFill>
                  <a:srgbClr val="F59E0B"/>
                </a:solidFill>
                <a:latin typeface="Inter"/>
              </a:rPr>
              <a:t>INTEL · GOOGLE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73952" y="4965192"/>
            <a:ext cx="234086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1F5F9"/>
                </a:solidFill>
                <a:latin typeface="Inter"/>
              </a:rPr>
              <a:t>OKRs — Objectives &amp; Key Results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73952" y="5376672"/>
            <a:ext cx="234086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1">
                <a:solidFill>
                  <a:srgbClr val="9CA3AF"/>
                </a:solidFill>
                <a:latin typeface="Inter"/>
              </a:rPr>
              <a:t>Andy Grove · John Doerr (Measure What Matters)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73952" y="5623560"/>
            <a:ext cx="2340864" cy="4846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 i="0">
                <a:solidFill>
                  <a:srgbClr val="CBD5E1"/>
                </a:solidFill>
                <a:latin typeface="Inter"/>
              </a:rPr>
              <a:t>OKR Tracker para founders y cohortes.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134856" y="4507992"/>
            <a:ext cx="2743200" cy="1691640"/>
          </a:xfrm>
          <a:prstGeom prst="roundRect">
            <a:avLst>
              <a:gd name="adj" fmla="val 6000"/>
            </a:avLst>
          </a:prstGeom>
          <a:solidFill>
            <a:srgbClr val="13171F"/>
          </a:solidFill>
          <a:ln w="9525">
            <a:solidFill>
              <a:srgbClr val="2A2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9336024" y="4672584"/>
            <a:ext cx="384048" cy="3175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336024" y="4709160"/>
            <a:ext cx="234086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>
                <a:solidFill>
                  <a:srgbClr val="10B981"/>
                </a:solidFill>
                <a:latin typeface="Inter"/>
              </a:rPr>
              <a:t>GIIN · IRIS+ · ODS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336024" y="4965192"/>
            <a:ext cx="234086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1F5F9"/>
                </a:solidFill>
                <a:latin typeface="Inter"/>
              </a:rPr>
              <a:t>Estándares de impacto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336024" y="5376672"/>
            <a:ext cx="234086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1">
                <a:solidFill>
                  <a:srgbClr val="9CA3AF"/>
                </a:solidFill>
                <a:latin typeface="Inter"/>
              </a:rPr>
              <a:t>Global Impact Investing Network · IRIS+ · SDG Compass de Naciones Unidas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336024" y="5623560"/>
            <a:ext cx="2340864" cy="4846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 i="0">
                <a:solidFill>
                  <a:srgbClr val="CBD5E1"/>
                </a:solidFill>
                <a:latin typeface="Inter"/>
              </a:rPr>
              <a:t>Impact Metrics, Theory of Change, alineación a los 17 ODS.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8640" y="5989320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1">
                <a:solidFill>
                  <a:srgbClr val="6B7280"/>
                </a:solidFill>
                <a:latin typeface="Inter"/>
              </a:rPr>
              <a:t>Cada herramienta cita su fuente metodológica dentro de la plataforma · Las versiones en español son adaptación propia de Redesign Lab.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B7280"/>
                </a:solidFill>
                <a:latin typeface="Inter"/>
              </a:rPr>
              <a:t>Startups4Climate · Pitch MINPRO 2026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6B7280"/>
                </a:solidFill>
                <a:latin typeface="Inter"/>
              </a:rPr>
              <a:t>8 / 19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0D9488"/>
                </a:solidFill>
                <a:latin typeface="Inter"/>
              </a:rPr>
              <a:t>07 · CAPA 2 — ORGANIZACIONES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F1F5F9"/>
                </a:solidFill>
                <a:latin typeface="Inter"/>
              </a:rPr>
              <a:t>Gestión integral de cohortes — sin más Excel ni WhatsApp.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9CA3AF"/>
                </a:solidFill>
                <a:latin typeface="Inter"/>
              </a:rPr>
              <a:t>Para incubadoras, aceleradoras, universidades y operadores de programas públicos. Plan Regional gratuito; Profesional desde S/ 1,100/año.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697480"/>
            <a:ext cx="3694176" cy="1417320"/>
          </a:xfrm>
          <a:prstGeom prst="roundRect">
            <a:avLst>
              <a:gd name="adj" fmla="val 6000"/>
            </a:avLst>
          </a:prstGeom>
          <a:solidFill>
            <a:srgbClr val="13171F"/>
          </a:solidFill>
          <a:ln w="9525">
            <a:solidFill>
              <a:srgbClr val="2A2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" y="2926080"/>
            <a:ext cx="292608" cy="3175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3063240"/>
            <a:ext cx="314553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F1F5F9"/>
                </a:solidFill>
                <a:latin typeface="Inter"/>
              </a:rPr>
              <a:t>Cohortes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429000"/>
            <a:ext cx="3145536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9CA3AF"/>
                </a:solidFill>
                <a:latin typeface="Inter"/>
              </a:rPr>
              <a:t>Crear cohortes con fechas, milestones y descripción.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2697480"/>
            <a:ext cx="3694176" cy="1417320"/>
          </a:xfrm>
          <a:prstGeom prst="roundRect">
            <a:avLst>
              <a:gd name="adj" fmla="val 6000"/>
            </a:avLst>
          </a:prstGeom>
          <a:solidFill>
            <a:srgbClr val="13171F"/>
          </a:solidFill>
          <a:ln w="9525">
            <a:solidFill>
              <a:srgbClr val="2A2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645152" y="2926080"/>
            <a:ext cx="292608" cy="3175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45152" y="3063240"/>
            <a:ext cx="314553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F1F5F9"/>
                </a:solidFill>
                <a:latin typeface="Inter"/>
              </a:rPr>
              <a:t>Invitaciones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5152" y="3429000"/>
            <a:ext cx="3145536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9CA3AF"/>
                </a:solidFill>
                <a:latin typeface="Inter"/>
              </a:rPr>
              <a:t>Founders por email, registro automático, vinculación.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93024" y="2697480"/>
            <a:ext cx="3694176" cy="1417320"/>
          </a:xfrm>
          <a:prstGeom prst="roundRect">
            <a:avLst>
              <a:gd name="adj" fmla="val 6000"/>
            </a:avLst>
          </a:prstGeom>
          <a:solidFill>
            <a:srgbClr val="13171F"/>
          </a:solidFill>
          <a:ln w="9525">
            <a:solidFill>
              <a:srgbClr val="2A2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467344" y="2926080"/>
            <a:ext cx="292608" cy="3175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67344" y="3063240"/>
            <a:ext cx="314553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F1F5F9"/>
                </a:solidFill>
                <a:latin typeface="Inter"/>
              </a:rPr>
              <a:t>Dashboard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67344" y="3429000"/>
            <a:ext cx="3145536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9CA3AF"/>
                </a:solidFill>
                <a:latin typeface="Inter"/>
              </a:rPr>
              <a:t>Progreso de cada startup en tiempo real.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242816"/>
            <a:ext cx="3694176" cy="1417320"/>
          </a:xfrm>
          <a:prstGeom prst="roundRect">
            <a:avLst>
              <a:gd name="adj" fmla="val 6000"/>
            </a:avLst>
          </a:prstGeom>
          <a:solidFill>
            <a:srgbClr val="13171F"/>
          </a:solidFill>
          <a:ln w="9525">
            <a:solidFill>
              <a:srgbClr val="2A2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22960" y="4471416"/>
            <a:ext cx="292608" cy="3175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4608576"/>
            <a:ext cx="314553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F1F5F9"/>
                </a:solidFill>
                <a:latin typeface="Inter"/>
              </a:rPr>
              <a:t>Benchmarking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974336"/>
            <a:ext cx="3145536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9CA3AF"/>
                </a:solidFill>
                <a:latin typeface="Inter"/>
              </a:rPr>
              <a:t>Comparar cohortes vs. promedio plataforma.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70832" y="4242816"/>
            <a:ext cx="3694176" cy="1417320"/>
          </a:xfrm>
          <a:prstGeom prst="roundRect">
            <a:avLst>
              <a:gd name="adj" fmla="val 6000"/>
            </a:avLst>
          </a:prstGeom>
          <a:solidFill>
            <a:srgbClr val="13171F"/>
          </a:solidFill>
          <a:ln w="9525">
            <a:solidFill>
              <a:srgbClr val="2A2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645152" y="4471416"/>
            <a:ext cx="292608" cy="3175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645152" y="4608576"/>
            <a:ext cx="314553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F1F5F9"/>
                </a:solidFill>
                <a:latin typeface="Inter"/>
              </a:rPr>
              <a:t>Reportes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45152" y="4974336"/>
            <a:ext cx="3145536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9CA3AF"/>
                </a:solidFill>
                <a:latin typeface="Inter"/>
              </a:rPr>
              <a:t>Excel descargable listo para stakeholders.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93024" y="4242816"/>
            <a:ext cx="3694176" cy="1417320"/>
          </a:xfrm>
          <a:prstGeom prst="roundRect">
            <a:avLst>
              <a:gd name="adj" fmla="val 6000"/>
            </a:avLst>
          </a:prstGeom>
          <a:solidFill>
            <a:srgbClr val="13171F"/>
          </a:solidFill>
          <a:ln w="9525">
            <a:solidFill>
              <a:srgbClr val="2A2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467344" y="4471416"/>
            <a:ext cx="292608" cy="3175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67344" y="4608576"/>
            <a:ext cx="314553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F1F5F9"/>
                </a:solidFill>
                <a:latin typeface="Inter"/>
              </a:rPr>
              <a:t>Configuración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67344" y="4974336"/>
            <a:ext cx="3145536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9CA3AF"/>
                </a:solidFill>
                <a:latin typeface="Inter"/>
              </a:rPr>
              <a:t>Branding, logo, hitos personalizados.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B7280"/>
                </a:solidFill>
                <a:latin typeface="Inter"/>
              </a:rPr>
              <a:t>Startups4Climate · Pitch MINPRO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6B7280"/>
                </a:solidFill>
                <a:latin typeface="Inter"/>
              </a:rPr>
              <a:t>9 / 19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F59E0B"/>
                </a:solidFill>
                <a:latin typeface="Inter"/>
              </a:rPr>
              <a:t>08 · CAPA 3 — VISTA NACIONAL (MINPRO)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F1F5F9"/>
                </a:solidFill>
                <a:latin typeface="Inter"/>
              </a:rPr>
              <a:t>Lo que el MINPRO necesita: un dashboard para gobernar el sistema.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9CA3AF"/>
                </a:solidFill>
                <a:latin typeface="Inter"/>
              </a:rPr>
              <a:t>Acceso exclusivo del rol Superadmin. Comparar programas, regiones, verticales, presupuesto, ROI e impacto — en tiempo real.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697480"/>
            <a:ext cx="3694176" cy="1554480"/>
          </a:xfrm>
          <a:prstGeom prst="roundRect">
            <a:avLst>
              <a:gd name="adj" fmla="val 6000"/>
            </a:avLst>
          </a:prstGeom>
          <a:solidFill>
            <a:srgbClr val="13171F"/>
          </a:solidFill>
          <a:ln w="9525">
            <a:solidFill>
              <a:srgbClr val="2A2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" y="2926080"/>
            <a:ext cx="292608" cy="317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3063240"/>
            <a:ext cx="314553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F1F5F9"/>
                </a:solidFill>
                <a:latin typeface="Inter"/>
              </a:rPr>
              <a:t>Comparar programas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429000"/>
            <a:ext cx="3145536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9CA3AF"/>
                </a:solidFill>
                <a:latin typeface="Inter"/>
              </a:rPr>
              <a:t>StartUp Perú, ProInnóvate, InnóvateMype y operadores regionales — métricas estandarizadas.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2697480"/>
            <a:ext cx="3694176" cy="1554480"/>
          </a:xfrm>
          <a:prstGeom prst="roundRect">
            <a:avLst>
              <a:gd name="adj" fmla="val 6000"/>
            </a:avLst>
          </a:prstGeom>
          <a:solidFill>
            <a:srgbClr val="13171F"/>
          </a:solidFill>
          <a:ln w="9525">
            <a:solidFill>
              <a:srgbClr val="2A2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645152" y="2926080"/>
            <a:ext cx="292608" cy="317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45152" y="3063240"/>
            <a:ext cx="314553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F1F5F9"/>
                </a:solidFill>
                <a:latin typeface="Inter"/>
              </a:rPr>
              <a:t>Por región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5152" y="3429000"/>
            <a:ext cx="3145536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9CA3AF"/>
                </a:solidFill>
                <a:latin typeface="Inter"/>
              </a:rPr>
              <a:t>24 departamentos con cobertura, número de founders, score promedio y ejecución presupuestal.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93024" y="2697480"/>
            <a:ext cx="3694176" cy="1554480"/>
          </a:xfrm>
          <a:prstGeom prst="roundRect">
            <a:avLst>
              <a:gd name="adj" fmla="val 6000"/>
            </a:avLst>
          </a:prstGeom>
          <a:solidFill>
            <a:srgbClr val="13171F"/>
          </a:solidFill>
          <a:ln w="9525">
            <a:solidFill>
              <a:srgbClr val="2A2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467344" y="2926080"/>
            <a:ext cx="292608" cy="317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67344" y="3063240"/>
            <a:ext cx="314553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F1F5F9"/>
                </a:solidFill>
                <a:latin typeface="Inter"/>
              </a:rPr>
              <a:t>Por vertical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67344" y="3429000"/>
            <a:ext cx="3145536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9CA3AF"/>
                </a:solidFill>
                <a:latin typeface="Inter"/>
              </a:rPr>
              <a:t>Cleantech, agritech, healthtech, edtech, fintech — distribución por etapa y madurez.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379976"/>
            <a:ext cx="3694176" cy="1554480"/>
          </a:xfrm>
          <a:prstGeom prst="roundRect">
            <a:avLst>
              <a:gd name="adj" fmla="val 6000"/>
            </a:avLst>
          </a:prstGeom>
          <a:solidFill>
            <a:srgbClr val="13171F"/>
          </a:solidFill>
          <a:ln w="9525">
            <a:solidFill>
              <a:srgbClr val="2A2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22960" y="4608576"/>
            <a:ext cx="292608" cy="317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4745736"/>
            <a:ext cx="314553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F1F5F9"/>
                </a:solidFill>
                <a:latin typeface="Inter"/>
              </a:rPr>
              <a:t>Presupuesto y ROI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111496"/>
            <a:ext cx="3145536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9CA3AF"/>
                </a:solidFill>
                <a:latin typeface="Inter"/>
              </a:rPr>
              <a:t>Inversión por founder, costo por startup graduada, comparable entre programas.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70832" y="4379976"/>
            <a:ext cx="3694176" cy="1554480"/>
          </a:xfrm>
          <a:prstGeom prst="roundRect">
            <a:avLst>
              <a:gd name="adj" fmla="val 6000"/>
            </a:avLst>
          </a:prstGeom>
          <a:solidFill>
            <a:srgbClr val="13171F"/>
          </a:solidFill>
          <a:ln w="9525">
            <a:solidFill>
              <a:srgbClr val="2A2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645152" y="4608576"/>
            <a:ext cx="292608" cy="317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645152" y="4745736"/>
            <a:ext cx="314553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F1F5F9"/>
                </a:solidFill>
                <a:latin typeface="Inter"/>
              </a:rPr>
              <a:t>Hitos y avance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45152" y="5111496"/>
            <a:ext cx="3145536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9CA3AF"/>
                </a:solidFill>
                <a:latin typeface="Inter"/>
              </a:rPr>
              <a:t>Milestones por programa, retrasos, alertas tempranas.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93024" y="4379976"/>
            <a:ext cx="3694176" cy="1554480"/>
          </a:xfrm>
          <a:prstGeom prst="roundRect">
            <a:avLst>
              <a:gd name="adj" fmla="val 6000"/>
            </a:avLst>
          </a:prstGeom>
          <a:solidFill>
            <a:srgbClr val="13171F"/>
          </a:solidFill>
          <a:ln w="9525">
            <a:solidFill>
              <a:srgbClr val="2A2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467344" y="4608576"/>
            <a:ext cx="292608" cy="317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67344" y="4745736"/>
            <a:ext cx="314553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F1F5F9"/>
                </a:solidFill>
                <a:latin typeface="Inter"/>
              </a:rPr>
              <a:t>Impacto agregado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67344" y="5111496"/>
            <a:ext cx="3145536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9CA3AF"/>
                </a:solidFill>
                <a:latin typeface="Inter"/>
              </a:rPr>
              <a:t>Empleos generados, capital movilizado, tCO₂e, beneficiarios indirectos.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B7280"/>
                </a:solidFill>
                <a:latin typeface="Inter"/>
              </a:rPr>
              <a:t>Startups4Climate · Pitch MINPRO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6B7280"/>
                </a:solidFill>
                <a:latin typeface="Inter"/>
              </a:rPr>
              <a:t>10 / 19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FF6B4A"/>
                </a:solidFill>
                <a:latin typeface="Inter"/>
              </a:rPr>
              <a:t>09 · CÓMO CONECTA CON LA CARTERA DEL MINPRO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F1F5F9"/>
                </a:solidFill>
                <a:latin typeface="Inter"/>
              </a:rPr>
              <a:t>Programas existentes que pueden potenciarse desde el día 1.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606040"/>
            <a:ext cx="5541264" cy="1920240"/>
          </a:xfrm>
          <a:prstGeom prst="roundRect">
            <a:avLst>
              <a:gd name="adj" fmla="val 6000"/>
            </a:avLst>
          </a:prstGeom>
          <a:solidFill>
            <a:srgbClr val="13171F"/>
          </a:solidFill>
          <a:ln w="9525">
            <a:solidFill>
              <a:srgbClr val="2A2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68680" y="2944368"/>
            <a:ext cx="365760" cy="31750"/>
          </a:xfrm>
          <a:prstGeom prst="rect">
            <a:avLst/>
          </a:prstGeom>
          <a:solidFill>
            <a:srgbClr val="F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3090672"/>
            <a:ext cx="490118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1F5F9"/>
                </a:solidFill>
                <a:latin typeface="Inter"/>
              </a:rPr>
              <a:t>StartUp Perú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593592"/>
            <a:ext cx="4901184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9CA3AF"/>
                </a:solidFill>
                <a:latin typeface="Inter"/>
              </a:rPr>
              <a:t>Estandarizar diagnóstico, dashboard de cohorts y reportes para los operadores. Trazabilidad post-financiamiento.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606040"/>
            <a:ext cx="5541264" cy="1920240"/>
          </a:xfrm>
          <a:prstGeom prst="roundRect">
            <a:avLst>
              <a:gd name="adj" fmla="val 6000"/>
            </a:avLst>
          </a:prstGeom>
          <a:solidFill>
            <a:srgbClr val="13171F"/>
          </a:solidFill>
          <a:ln w="9525">
            <a:solidFill>
              <a:srgbClr val="2A2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537960" y="2944368"/>
            <a:ext cx="365760" cy="31750"/>
          </a:xfrm>
          <a:prstGeom prst="rect">
            <a:avLst/>
          </a:prstGeom>
          <a:solidFill>
            <a:srgbClr val="F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37960" y="3090672"/>
            <a:ext cx="490118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1F5F9"/>
                </a:solidFill>
                <a:latin typeface="Inter"/>
              </a:rPr>
              <a:t>ProInnóvate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3593592"/>
            <a:ext cx="4901184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9CA3AF"/>
                </a:solidFill>
                <a:latin typeface="Inter"/>
              </a:rPr>
              <a:t>Seguimiento de proyectos de innovación empresarial con KPIs unificados y comparables entre convocatorias.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654296"/>
            <a:ext cx="5541264" cy="1920240"/>
          </a:xfrm>
          <a:prstGeom prst="roundRect">
            <a:avLst>
              <a:gd name="adj" fmla="val 6000"/>
            </a:avLst>
          </a:prstGeom>
          <a:solidFill>
            <a:srgbClr val="13171F"/>
          </a:solidFill>
          <a:ln w="9525">
            <a:solidFill>
              <a:srgbClr val="2A2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68680" y="4992624"/>
            <a:ext cx="365760" cy="31750"/>
          </a:xfrm>
          <a:prstGeom prst="rect">
            <a:avLst/>
          </a:prstGeom>
          <a:solidFill>
            <a:srgbClr val="F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5138928"/>
            <a:ext cx="490118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1F5F9"/>
                </a:solidFill>
                <a:latin typeface="Inter"/>
              </a:rPr>
              <a:t>InnóvateMype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641848"/>
            <a:ext cx="4901184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9CA3AF"/>
                </a:solidFill>
                <a:latin typeface="Inter"/>
              </a:rPr>
              <a:t>Capacitación + herramientas estructuradas para Mypes en proceso de formalización y crecimiento.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654296"/>
            <a:ext cx="5541264" cy="1920240"/>
          </a:xfrm>
          <a:prstGeom prst="roundRect">
            <a:avLst>
              <a:gd name="adj" fmla="val 6000"/>
            </a:avLst>
          </a:prstGeom>
          <a:solidFill>
            <a:srgbClr val="13171F"/>
          </a:solidFill>
          <a:ln w="9525">
            <a:solidFill>
              <a:srgbClr val="2A2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537960" y="4992624"/>
            <a:ext cx="365760" cy="31750"/>
          </a:xfrm>
          <a:prstGeom prst="rect">
            <a:avLst/>
          </a:prstGeom>
          <a:solidFill>
            <a:srgbClr val="F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37960" y="5138928"/>
            <a:ext cx="490118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1F5F9"/>
                </a:solidFill>
                <a:latin typeface="Inter"/>
              </a:rPr>
              <a:t>Programas regionales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5641848"/>
            <a:ext cx="4901184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9CA3AF"/>
                </a:solidFill>
                <a:latin typeface="Inter"/>
              </a:rPr>
              <a:t>Cobertura para incubadoras de UNI, UNT, UNSA, UNALM, UNAS, UNMSM y gobiernos regionales — plan Regional gratuito.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B7280"/>
                </a:solidFill>
                <a:latin typeface="Inter"/>
              </a:rPr>
              <a:t>Startups4Climate · Pitch MINPRO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6B7280"/>
                </a:solidFill>
                <a:latin typeface="Inter"/>
              </a:rPr>
              <a:t>11 / 19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FF6B4A"/>
                </a:solidFill>
                <a:latin typeface="Inter"/>
              </a:rPr>
              <a:t>10 · STACK Y ARQUITECTURA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F1F5F9"/>
                </a:solidFill>
                <a:latin typeface="Inter"/>
              </a:rPr>
              <a:t>Construido con tecnología seria — pensado para el sector público.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606040"/>
            <a:ext cx="3694176" cy="1280160"/>
          </a:xfrm>
          <a:prstGeom prst="roundRect">
            <a:avLst>
              <a:gd name="adj" fmla="val 6000"/>
            </a:avLst>
          </a:prstGeom>
          <a:solidFill>
            <a:srgbClr val="13171F"/>
          </a:solidFill>
          <a:ln w="9525">
            <a:solidFill>
              <a:srgbClr val="2A2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2834640"/>
            <a:ext cx="314553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F6B4A"/>
                </a:solidFill>
                <a:latin typeface="Inter"/>
              </a:rPr>
              <a:t>Next.js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314553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9CA3AF"/>
                </a:solidFill>
                <a:latin typeface="Inter"/>
              </a:rPr>
              <a:t>Framework moderno, despliegue serverless en Vercel.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0832" y="2606040"/>
            <a:ext cx="3694176" cy="1280160"/>
          </a:xfrm>
          <a:prstGeom prst="roundRect">
            <a:avLst>
              <a:gd name="adj" fmla="val 6000"/>
            </a:avLst>
          </a:prstGeom>
          <a:solidFill>
            <a:srgbClr val="13171F"/>
          </a:solidFill>
          <a:ln w="9525">
            <a:solidFill>
              <a:srgbClr val="2A2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45152" y="2834640"/>
            <a:ext cx="314553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F6B4A"/>
                </a:solidFill>
                <a:latin typeface="Inter"/>
              </a:rPr>
              <a:t>Supabase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45152" y="3200400"/>
            <a:ext cx="314553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9CA3AF"/>
                </a:solidFill>
                <a:latin typeface="Inter"/>
              </a:rPr>
              <a:t>Postgres gestionado con RLS por organización y rol.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93024" y="2606040"/>
            <a:ext cx="3694176" cy="1280160"/>
          </a:xfrm>
          <a:prstGeom prst="roundRect">
            <a:avLst>
              <a:gd name="adj" fmla="val 6000"/>
            </a:avLst>
          </a:prstGeom>
          <a:solidFill>
            <a:srgbClr val="13171F"/>
          </a:solidFill>
          <a:ln w="9525">
            <a:solidFill>
              <a:srgbClr val="2A2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67344" y="2834640"/>
            <a:ext cx="314553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F6B4A"/>
                </a:solidFill>
                <a:latin typeface="Inter"/>
              </a:rPr>
              <a:t>Gemini 2.5 Flash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67344" y="3200400"/>
            <a:ext cx="314553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9CA3AF"/>
                </a:solidFill>
                <a:latin typeface="Inter"/>
              </a:rPr>
              <a:t>Motor AI para mentor contextualizado.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014216"/>
            <a:ext cx="3694176" cy="1280160"/>
          </a:xfrm>
          <a:prstGeom prst="roundRect">
            <a:avLst>
              <a:gd name="adj" fmla="val 6000"/>
            </a:avLst>
          </a:prstGeom>
          <a:solidFill>
            <a:srgbClr val="13171F"/>
          </a:solidFill>
          <a:ln w="9525">
            <a:solidFill>
              <a:srgbClr val="2A2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4242816"/>
            <a:ext cx="314553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F6B4A"/>
                </a:solidFill>
                <a:latin typeface="Inter"/>
              </a:rPr>
              <a:t>Resend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608576"/>
            <a:ext cx="314553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9CA3AF"/>
                </a:solidFill>
                <a:latin typeface="Inter"/>
              </a:rPr>
              <a:t>Email transaccional para invitaciones y reportes.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70832" y="4014216"/>
            <a:ext cx="3694176" cy="1280160"/>
          </a:xfrm>
          <a:prstGeom prst="roundRect">
            <a:avLst>
              <a:gd name="adj" fmla="val 6000"/>
            </a:avLst>
          </a:prstGeom>
          <a:solidFill>
            <a:srgbClr val="13171F"/>
          </a:solidFill>
          <a:ln w="9525">
            <a:solidFill>
              <a:srgbClr val="2A2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645152" y="4242816"/>
            <a:ext cx="314553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F6B4A"/>
                </a:solidFill>
                <a:latin typeface="Inter"/>
              </a:rPr>
              <a:t>TypeScript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45152" y="4608576"/>
            <a:ext cx="314553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9CA3AF"/>
                </a:solidFill>
                <a:latin typeface="Inter"/>
              </a:rPr>
              <a:t>Tipado estricto, menor superficie de bugs.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93024" y="4014216"/>
            <a:ext cx="3694176" cy="1280160"/>
          </a:xfrm>
          <a:prstGeom prst="roundRect">
            <a:avLst>
              <a:gd name="adj" fmla="val 6000"/>
            </a:avLst>
          </a:prstGeom>
          <a:solidFill>
            <a:srgbClr val="13171F"/>
          </a:solidFill>
          <a:ln w="9525">
            <a:solidFill>
              <a:srgbClr val="2A2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67344" y="4242816"/>
            <a:ext cx="314553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F6B4A"/>
                </a:solidFill>
                <a:latin typeface="Inter"/>
              </a:rPr>
              <a:t>Vercel + GitHub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67344" y="4608576"/>
            <a:ext cx="314553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9CA3AF"/>
                </a:solidFill>
                <a:latin typeface="Inter"/>
              </a:rPr>
              <a:t>CI/CD, preview por branch, rollbacks 1-click.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349240"/>
            <a:ext cx="11091672" cy="914400"/>
          </a:xfrm>
          <a:prstGeom prst="roundRect">
            <a:avLst>
              <a:gd name="adj" fmla="val 4000"/>
            </a:avLst>
          </a:prstGeom>
          <a:solidFill>
            <a:srgbClr val="1E2330"/>
          </a:solidFill>
          <a:ln w="9525">
            <a:solidFill>
              <a:srgbClr val="2A2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8680" y="548640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10B981"/>
                </a:solidFill>
                <a:latin typeface="Inter"/>
              </a:rPr>
              <a:t>SEGURIDAD Y PRIVACIDAD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76072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CBD5E1"/>
                </a:solidFill>
                <a:latin typeface="Inter"/>
              </a:rPr>
              <a:t>Row Level Security en cada tabla · auth multi-rol · auditoría de eventos · datos hosteados en infraestructura cloud certificada · cumplimiento Ley 29733 (protección de datos personales).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B7280"/>
                </a:solidFill>
                <a:latin typeface="Inter"/>
              </a:rPr>
              <a:t>Startups4Climate · Pitch MINPRO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6B7280"/>
                </a:solidFill>
                <a:latin typeface="Inter"/>
              </a:rPr>
              <a:t>12 / 19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FF6B4A"/>
                </a:solidFill>
                <a:latin typeface="Inter"/>
              </a:rPr>
              <a:t>11 · TIPOS DE USUARIO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F1F5F9"/>
                </a:solidFill>
                <a:latin typeface="Inter"/>
              </a:rPr>
              <a:t>Cuatro perfiles, una sola plataforma.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606040"/>
            <a:ext cx="2743200" cy="2697480"/>
          </a:xfrm>
          <a:prstGeom prst="roundRect">
            <a:avLst>
              <a:gd name="adj" fmla="val 6000"/>
            </a:avLst>
          </a:prstGeom>
          <a:solidFill>
            <a:srgbClr val="13171F"/>
          </a:solidFill>
          <a:ln w="9525">
            <a:solidFill>
              <a:srgbClr val="2A2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2606040"/>
            <a:ext cx="2743200" cy="411480"/>
          </a:xfrm>
          <a:prstGeom prst="roundRect">
            <a:avLst>
              <a:gd name="adj" fmla="val 18000"/>
            </a:avLst>
          </a:prstGeom>
          <a:solidFill>
            <a:srgbClr val="F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267919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07090E"/>
                </a:solidFill>
                <a:latin typeface="Inter"/>
              </a:rPr>
              <a:t>FOUNDER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200400"/>
            <a:ext cx="228600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CBD5E1"/>
                </a:solidFill>
                <a:latin typeface="Inter"/>
              </a:rPr>
              <a:t>Acceso gratuito. Usa herramientas, recibe mentoría AI, genera su Passport y se postula a oportunidades.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84632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6B7280"/>
                </a:solidFill>
                <a:latin typeface="Inter"/>
              </a:rPr>
              <a:t>ESTADO ACTUAL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074920"/>
            <a:ext cx="22860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FF6B4A"/>
                </a:solidFill>
                <a:latin typeface="Inter"/>
              </a:rPr>
              <a:t>17+ activos hoy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10712" y="2606040"/>
            <a:ext cx="2743200" cy="2697480"/>
          </a:xfrm>
          <a:prstGeom prst="roundRect">
            <a:avLst>
              <a:gd name="adj" fmla="val 6000"/>
            </a:avLst>
          </a:prstGeom>
          <a:solidFill>
            <a:srgbClr val="13171F"/>
          </a:solidFill>
          <a:ln w="9525">
            <a:solidFill>
              <a:srgbClr val="2A2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410712" y="2606040"/>
            <a:ext cx="2743200" cy="411480"/>
          </a:xfrm>
          <a:prstGeom prst="roundRect">
            <a:avLst>
              <a:gd name="adj" fmla="val 18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10712" y="267919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07090E"/>
                </a:solidFill>
                <a:latin typeface="Inter"/>
              </a:rPr>
              <a:t>ADMIN ORG.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9312" y="3200400"/>
            <a:ext cx="228600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CBD5E1"/>
                </a:solidFill>
                <a:latin typeface="Inter"/>
              </a:rPr>
              <a:t>Líder de incubadora/programa. Crea cohortes, invita founders, descarga reportes, configura branding.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9312" y="484632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6B7280"/>
                </a:solidFill>
                <a:latin typeface="Inter"/>
              </a:rPr>
              <a:t>ESTADO ACTUAL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9312" y="5074920"/>
            <a:ext cx="22860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D9488"/>
                </a:solidFill>
                <a:latin typeface="Inter"/>
              </a:rPr>
              <a:t>3 organizaciones piloto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2784" y="2606040"/>
            <a:ext cx="2743200" cy="2697480"/>
          </a:xfrm>
          <a:prstGeom prst="roundRect">
            <a:avLst>
              <a:gd name="adj" fmla="val 6000"/>
            </a:avLst>
          </a:prstGeom>
          <a:solidFill>
            <a:srgbClr val="13171F"/>
          </a:solidFill>
          <a:ln w="9525">
            <a:solidFill>
              <a:srgbClr val="2A2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272784" y="2606040"/>
            <a:ext cx="2743200" cy="411480"/>
          </a:xfrm>
          <a:prstGeom prst="roundRect">
            <a:avLst>
              <a:gd name="adj" fmla="val 18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72784" y="267919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07090E"/>
                </a:solidFill>
                <a:latin typeface="Inter"/>
              </a:rPr>
              <a:t>SUPERADMIN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1384" y="3200400"/>
            <a:ext cx="228600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CBD5E1"/>
                </a:solidFill>
                <a:latin typeface="Inter"/>
              </a:rPr>
              <a:t>Rol exclusivo MINPRO o ente rector. Vista nacional comparativa de todos los programas.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01384" y="484632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6B7280"/>
                </a:solidFill>
                <a:latin typeface="Inter"/>
              </a:rPr>
              <a:t>ESTADO ACTUAL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01384" y="5074920"/>
            <a:ext cx="22860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F59E0B"/>
                </a:solidFill>
                <a:latin typeface="Inter"/>
              </a:rPr>
              <a:t>1 cuenta MINPRO propuesta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34856" y="2606040"/>
            <a:ext cx="2743200" cy="2697480"/>
          </a:xfrm>
          <a:prstGeom prst="roundRect">
            <a:avLst>
              <a:gd name="adj" fmla="val 6000"/>
            </a:avLst>
          </a:prstGeom>
          <a:solidFill>
            <a:srgbClr val="13171F"/>
          </a:solidFill>
          <a:ln w="9525">
            <a:solidFill>
              <a:srgbClr val="2A2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9134856" y="2606040"/>
            <a:ext cx="2743200" cy="411480"/>
          </a:xfrm>
          <a:prstGeom prst="roundRect">
            <a:avLst>
              <a:gd name="adj" fmla="val 18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34856" y="267919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07090E"/>
                </a:solidFill>
                <a:latin typeface="Inter"/>
              </a:rPr>
              <a:t>MENTOR (Q3)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63456" y="3200400"/>
            <a:ext cx="228600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CBD5E1"/>
                </a:solidFill>
                <a:latin typeface="Inter"/>
              </a:rPr>
              <a:t>Próximamente. Profesionales validados que pueden asignarse 1:1 a startups específicas.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63456" y="484632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6B7280"/>
                </a:solidFill>
                <a:latin typeface="Inter"/>
              </a:rPr>
              <a:t>ESTADO ACTUAL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63456" y="5074920"/>
            <a:ext cx="22860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3B82F6"/>
                </a:solidFill>
                <a:latin typeface="Inter"/>
              </a:rPr>
              <a:t>Roadmap fase 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B7280"/>
                </a:solidFill>
                <a:latin typeface="Inter"/>
              </a:rPr>
              <a:t>Startups4Climate · Pitch MINPRO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6B7280"/>
                </a:solidFill>
                <a:latin typeface="Inter"/>
              </a:rPr>
              <a:t>13 / 19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FF6B4A"/>
                </a:solidFill>
                <a:latin typeface="Inter"/>
              </a:rPr>
              <a:t>12 · IMPACTO EN EL ECOSISTEMA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F1F5F9"/>
                </a:solidFill>
                <a:latin typeface="Inter"/>
              </a:rPr>
              <a:t>Lo que cambia cuando el ecosistema corre sobre infraestructura común.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606040"/>
            <a:ext cx="3694176" cy="3291840"/>
          </a:xfrm>
          <a:prstGeom prst="roundRect">
            <a:avLst>
              <a:gd name="adj" fmla="val 5000"/>
            </a:avLst>
          </a:prstGeom>
          <a:solidFill>
            <a:srgbClr val="13171F"/>
          </a:solidFill>
          <a:ln w="9525">
            <a:solidFill>
              <a:srgbClr val="2A2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2788920"/>
            <a:ext cx="314553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FF6B4A"/>
                </a:solidFill>
                <a:latin typeface="Inter"/>
              </a:rPr>
              <a:t>Para el MINPRO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3319272"/>
            <a:ext cx="64008" cy="64008"/>
          </a:xfrm>
          <a:prstGeom prst="ellipse">
            <a:avLst/>
          </a:prstGeom>
          <a:solidFill>
            <a:srgbClr val="F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3246120"/>
            <a:ext cx="296265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CBD5E1"/>
                </a:solidFill>
                <a:latin typeface="Inter"/>
              </a:rPr>
              <a:t>Visibilidad nacional en tiempo real de programas y operadores.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3886200"/>
            <a:ext cx="64008" cy="64008"/>
          </a:xfrm>
          <a:prstGeom prst="ellipse">
            <a:avLst/>
          </a:prstGeom>
          <a:solidFill>
            <a:srgbClr val="F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3813048"/>
            <a:ext cx="296265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CBD5E1"/>
                </a:solidFill>
                <a:latin typeface="Inter"/>
              </a:rPr>
              <a:t>Reportes de ejecución y resultados sin esperar 6 meses.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4453128"/>
            <a:ext cx="64008" cy="64008"/>
          </a:xfrm>
          <a:prstGeom prst="ellipse">
            <a:avLst/>
          </a:prstGeom>
          <a:solidFill>
            <a:srgbClr val="F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4379976"/>
            <a:ext cx="296265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CBD5E1"/>
                </a:solidFill>
                <a:latin typeface="Inter"/>
              </a:rPr>
              <a:t>Decisiones presupuestales basadas en data comparable.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5020056"/>
            <a:ext cx="64008" cy="64008"/>
          </a:xfrm>
          <a:prstGeom prst="ellipse">
            <a:avLst/>
          </a:prstGeom>
          <a:solidFill>
            <a:srgbClr val="F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4946904"/>
            <a:ext cx="296265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CBD5E1"/>
                </a:solidFill>
                <a:latin typeface="Inter"/>
              </a:rPr>
              <a:t>Detección temprana de programas sub-performantes.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70832" y="2606040"/>
            <a:ext cx="3694176" cy="3291840"/>
          </a:xfrm>
          <a:prstGeom prst="roundRect">
            <a:avLst>
              <a:gd name="adj" fmla="val 5000"/>
            </a:avLst>
          </a:prstGeom>
          <a:solidFill>
            <a:srgbClr val="13171F"/>
          </a:solidFill>
          <a:ln w="9525">
            <a:solidFill>
              <a:srgbClr val="2A2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45152" y="2788920"/>
            <a:ext cx="314553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FF6B4A"/>
                </a:solidFill>
                <a:latin typeface="Inter"/>
              </a:rPr>
              <a:t>Para las organizaciones operadoras</a:t>
            </a:r>
          </a:p>
        </p:txBody>
      </p:sp>
      <p:sp>
        <p:nvSpPr>
          <p:cNvPr id="16" name="Oval 15"/>
          <p:cNvSpPr/>
          <p:nvPr/>
        </p:nvSpPr>
        <p:spPr>
          <a:xfrm>
            <a:off x="4645152" y="3319272"/>
            <a:ext cx="64008" cy="64008"/>
          </a:xfrm>
          <a:prstGeom prst="ellipse">
            <a:avLst/>
          </a:prstGeom>
          <a:solidFill>
            <a:srgbClr val="F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828032" y="3246120"/>
            <a:ext cx="296265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CBD5E1"/>
                </a:solidFill>
                <a:latin typeface="Inter"/>
              </a:rPr>
              <a:t>Reducción 80% del tiempo administrativo por cohorte.</a:t>
            </a:r>
          </a:p>
        </p:txBody>
      </p:sp>
      <p:sp>
        <p:nvSpPr>
          <p:cNvPr id="18" name="Oval 17"/>
          <p:cNvSpPr/>
          <p:nvPr/>
        </p:nvSpPr>
        <p:spPr>
          <a:xfrm>
            <a:off x="4645152" y="3886200"/>
            <a:ext cx="64008" cy="64008"/>
          </a:xfrm>
          <a:prstGeom prst="ellipse">
            <a:avLst/>
          </a:prstGeom>
          <a:solidFill>
            <a:srgbClr val="F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28032" y="3813048"/>
            <a:ext cx="296265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CBD5E1"/>
                </a:solidFill>
                <a:latin typeface="Inter"/>
              </a:rPr>
              <a:t>Métricas estandarizadas — fácil comparar y mejorar.</a:t>
            </a:r>
          </a:p>
        </p:txBody>
      </p:sp>
      <p:sp>
        <p:nvSpPr>
          <p:cNvPr id="20" name="Oval 19"/>
          <p:cNvSpPr/>
          <p:nvPr/>
        </p:nvSpPr>
        <p:spPr>
          <a:xfrm>
            <a:off x="4645152" y="4453128"/>
            <a:ext cx="64008" cy="64008"/>
          </a:xfrm>
          <a:prstGeom prst="ellipse">
            <a:avLst/>
          </a:prstGeom>
          <a:solidFill>
            <a:srgbClr val="F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828032" y="4379976"/>
            <a:ext cx="296265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CBD5E1"/>
                </a:solidFill>
                <a:latin typeface="Inter"/>
              </a:rPr>
              <a:t>Reportes automatizados a stakeholders.</a:t>
            </a:r>
          </a:p>
        </p:txBody>
      </p:sp>
      <p:sp>
        <p:nvSpPr>
          <p:cNvPr id="22" name="Oval 21"/>
          <p:cNvSpPr/>
          <p:nvPr/>
        </p:nvSpPr>
        <p:spPr>
          <a:xfrm>
            <a:off x="4645152" y="5020056"/>
            <a:ext cx="64008" cy="64008"/>
          </a:xfrm>
          <a:prstGeom prst="ellipse">
            <a:avLst/>
          </a:prstGeom>
          <a:solidFill>
            <a:srgbClr val="F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828032" y="4946904"/>
            <a:ext cx="296265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CBD5E1"/>
                </a:solidFill>
                <a:latin typeface="Inter"/>
              </a:rPr>
              <a:t>Branding propio + acceso a comunidad nacional.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93024" y="2606040"/>
            <a:ext cx="3694176" cy="3291840"/>
          </a:xfrm>
          <a:prstGeom prst="roundRect">
            <a:avLst>
              <a:gd name="adj" fmla="val 5000"/>
            </a:avLst>
          </a:prstGeom>
          <a:solidFill>
            <a:srgbClr val="13171F"/>
          </a:solidFill>
          <a:ln w="9525">
            <a:solidFill>
              <a:srgbClr val="2A2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467344" y="2788920"/>
            <a:ext cx="314553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FF6B4A"/>
                </a:solidFill>
                <a:latin typeface="Inter"/>
              </a:rPr>
              <a:t>Para los founders</a:t>
            </a:r>
          </a:p>
        </p:txBody>
      </p:sp>
      <p:sp>
        <p:nvSpPr>
          <p:cNvPr id="26" name="Oval 25"/>
          <p:cNvSpPr/>
          <p:nvPr/>
        </p:nvSpPr>
        <p:spPr>
          <a:xfrm>
            <a:off x="8467344" y="3319272"/>
            <a:ext cx="64008" cy="64008"/>
          </a:xfrm>
          <a:prstGeom prst="ellipse">
            <a:avLst/>
          </a:prstGeom>
          <a:solidFill>
            <a:srgbClr val="F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650224" y="3246120"/>
            <a:ext cx="296265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CBD5E1"/>
                </a:solidFill>
                <a:latin typeface="Inter"/>
              </a:rPr>
              <a:t>Herramientas de calidad MIT/Stanford — gratis.</a:t>
            </a:r>
          </a:p>
        </p:txBody>
      </p:sp>
      <p:sp>
        <p:nvSpPr>
          <p:cNvPr id="28" name="Oval 27"/>
          <p:cNvSpPr/>
          <p:nvPr/>
        </p:nvSpPr>
        <p:spPr>
          <a:xfrm>
            <a:off x="8467344" y="3886200"/>
            <a:ext cx="64008" cy="64008"/>
          </a:xfrm>
          <a:prstGeom prst="ellipse">
            <a:avLst/>
          </a:prstGeom>
          <a:solidFill>
            <a:srgbClr val="F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650224" y="3813048"/>
            <a:ext cx="296265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CBD5E1"/>
                </a:solidFill>
                <a:latin typeface="Inter"/>
              </a:rPr>
              <a:t>Mentor AI 24/7 contextualizado a su vertical.</a:t>
            </a:r>
          </a:p>
        </p:txBody>
      </p:sp>
      <p:sp>
        <p:nvSpPr>
          <p:cNvPr id="30" name="Oval 29"/>
          <p:cNvSpPr/>
          <p:nvPr/>
        </p:nvSpPr>
        <p:spPr>
          <a:xfrm>
            <a:off x="8467344" y="4453128"/>
            <a:ext cx="64008" cy="64008"/>
          </a:xfrm>
          <a:prstGeom prst="ellipse">
            <a:avLst/>
          </a:prstGeom>
          <a:solidFill>
            <a:srgbClr val="F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650224" y="4379976"/>
            <a:ext cx="296265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CBD5E1"/>
                </a:solidFill>
                <a:latin typeface="Inter"/>
              </a:rPr>
              <a:t>Identidad pública (Passport) compartible con investors.</a:t>
            </a:r>
          </a:p>
        </p:txBody>
      </p:sp>
      <p:sp>
        <p:nvSpPr>
          <p:cNvPr id="32" name="Oval 31"/>
          <p:cNvSpPr/>
          <p:nvPr/>
        </p:nvSpPr>
        <p:spPr>
          <a:xfrm>
            <a:off x="8467344" y="5020056"/>
            <a:ext cx="64008" cy="64008"/>
          </a:xfrm>
          <a:prstGeom prst="ellipse">
            <a:avLst/>
          </a:prstGeom>
          <a:solidFill>
            <a:srgbClr val="F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650224" y="4946904"/>
            <a:ext cx="296265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CBD5E1"/>
                </a:solidFill>
                <a:latin typeface="Inter"/>
              </a:rPr>
              <a:t>Trazabilidad de su evolución a lo largo de programas.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B7280"/>
                </a:solidFill>
                <a:latin typeface="Inter"/>
              </a:rPr>
              <a:t>Startups4Climate · Pitch MINPRO 2026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6B7280"/>
                </a:solidFill>
                <a:latin typeface="Inter"/>
              </a:rPr>
              <a:t>14 / 19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FF6B4A"/>
                </a:solidFill>
                <a:latin typeface="Inter"/>
              </a:rPr>
              <a:t>13 · PROPUESTA DE PILOTO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F1F5F9"/>
                </a:solidFill>
                <a:latin typeface="Inter"/>
              </a:rPr>
              <a:t>Piloto controlado de 6 meses con 3 programas y la cuenta MINPRO.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2024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FF6B4A"/>
                </a:solidFill>
                <a:latin typeface="Inter"/>
              </a:rPr>
              <a:t>Alcance del piloto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2423160"/>
            <a:ext cx="64008" cy="64008"/>
          </a:xfrm>
          <a:prstGeom prst="ellipse">
            <a:avLst/>
          </a:prstGeom>
          <a:solidFill>
            <a:srgbClr val="F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2331720"/>
            <a:ext cx="5303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CBD5E1"/>
                </a:solidFill>
                <a:latin typeface="Inter"/>
              </a:rPr>
              <a:t>3 organizaciones operadoras (1 limeña + 2 regionales).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752344"/>
            <a:ext cx="64008" cy="64008"/>
          </a:xfrm>
          <a:prstGeom prst="ellipse">
            <a:avLst/>
          </a:prstGeom>
          <a:solidFill>
            <a:srgbClr val="F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2660904"/>
            <a:ext cx="5303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CBD5E1"/>
                </a:solidFill>
                <a:latin typeface="Inter"/>
              </a:rPr>
              <a:t>1 cuenta Superadmin para el equipo MINPRO designado.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081528"/>
            <a:ext cx="64008" cy="64008"/>
          </a:xfrm>
          <a:prstGeom prst="ellipse">
            <a:avLst/>
          </a:prstGeom>
          <a:solidFill>
            <a:srgbClr val="F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2990088"/>
            <a:ext cx="5303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CBD5E1"/>
                </a:solidFill>
                <a:latin typeface="Inter"/>
              </a:rPr>
              <a:t>~150 founders vinculados a las cohortes.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410712"/>
            <a:ext cx="64008" cy="64008"/>
          </a:xfrm>
          <a:prstGeom prst="ellipse">
            <a:avLst/>
          </a:prstGeom>
          <a:solidFill>
            <a:srgbClr val="F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3319272"/>
            <a:ext cx="5303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CBD5E1"/>
                </a:solidFill>
                <a:latin typeface="Inter"/>
              </a:rPr>
              <a:t>Acceso completo a 30+ herramientas y mentor AI.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739896"/>
            <a:ext cx="64008" cy="64008"/>
          </a:xfrm>
          <a:prstGeom prst="ellipse">
            <a:avLst/>
          </a:prstGeom>
          <a:solidFill>
            <a:srgbClr val="F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3648456"/>
            <a:ext cx="5303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CBD5E1"/>
                </a:solidFill>
                <a:latin typeface="Inter"/>
              </a:rPr>
              <a:t>Onboarding presencial y soporte dedicado.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4069080"/>
            <a:ext cx="64008" cy="64008"/>
          </a:xfrm>
          <a:prstGeom prst="ellipse">
            <a:avLst/>
          </a:prstGeom>
          <a:solidFill>
            <a:srgbClr val="F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3977640"/>
            <a:ext cx="5303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CBD5E1"/>
                </a:solidFill>
                <a:latin typeface="Inter"/>
              </a:rPr>
              <a:t>Sesiones de levantamiento y retroalimentación quincenales.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1920240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FF6B4A"/>
                </a:solidFill>
                <a:latin typeface="Inter"/>
              </a:rPr>
              <a:t>Timeline (6 meses)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75120" y="2377440"/>
            <a:ext cx="914400" cy="365760"/>
          </a:xfrm>
          <a:prstGeom prst="roundRect">
            <a:avLst>
              <a:gd name="adj" fmla="val 25000"/>
            </a:avLst>
          </a:prstGeom>
          <a:solidFill>
            <a:srgbClr val="F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75120" y="2414016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07090E"/>
                </a:solidFill>
                <a:latin typeface="Inter"/>
              </a:rPr>
              <a:t>Mes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26679" y="233172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1F5F9"/>
                </a:solidFill>
                <a:latin typeface="Inter"/>
              </a:rPr>
              <a:t>Setup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6679" y="2670048"/>
            <a:ext cx="4114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9CA3AF"/>
                </a:solidFill>
                <a:latin typeface="Inter"/>
              </a:rPr>
              <a:t>Onboarding orgs + cuenta MINPRO + import data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75120" y="3246120"/>
            <a:ext cx="914400" cy="365760"/>
          </a:xfrm>
          <a:prstGeom prst="roundRect">
            <a:avLst>
              <a:gd name="adj" fmla="val 25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675120" y="3282696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07090E"/>
                </a:solidFill>
                <a:latin typeface="Inter"/>
              </a:rPr>
              <a:t>Mes 2-3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26679" y="320040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1F5F9"/>
                </a:solidFill>
                <a:latin typeface="Inter"/>
              </a:rPr>
              <a:t>Operación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26679" y="3538728"/>
            <a:ext cx="4114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9CA3AF"/>
                </a:solidFill>
                <a:latin typeface="Inter"/>
              </a:rPr>
              <a:t>Cohortes activas, founders trabajando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75120" y="4114800"/>
            <a:ext cx="914400" cy="365760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675120" y="4151376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07090E"/>
                </a:solidFill>
                <a:latin typeface="Inter"/>
              </a:rPr>
              <a:t>Mes 4-5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26679" y="406908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1F5F9"/>
                </a:solidFill>
                <a:latin typeface="Inter"/>
              </a:rPr>
              <a:t>Optimización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26679" y="4407408"/>
            <a:ext cx="4114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9CA3AF"/>
                </a:solidFill>
                <a:latin typeface="Inter"/>
              </a:rPr>
              <a:t>Ajustes según feedback, primer reporte trimestral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675120" y="4983480"/>
            <a:ext cx="914400" cy="365760"/>
          </a:xfrm>
          <a:prstGeom prst="roundRect">
            <a:avLst>
              <a:gd name="adj" fmla="val 25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675120" y="5020056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07090E"/>
                </a:solidFill>
                <a:latin typeface="Inter"/>
              </a:rPr>
              <a:t>Mes 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26679" y="493776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1F5F9"/>
                </a:solidFill>
                <a:latin typeface="Inter"/>
              </a:rPr>
              <a:t>Evaluación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26679" y="5276088"/>
            <a:ext cx="4114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9CA3AF"/>
                </a:solidFill>
                <a:latin typeface="Inter"/>
              </a:rPr>
              <a:t>Reporte final + decisión de escalado nacional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B7280"/>
                </a:solidFill>
                <a:latin typeface="Inter"/>
              </a:rPr>
              <a:t>Startups4Climate · Pitch MINPRO 2026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6B7280"/>
                </a:solidFill>
                <a:latin typeface="Inter"/>
              </a:rPr>
              <a:t>15 / 19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FF6B4A"/>
                </a:solidFill>
                <a:latin typeface="Inter"/>
              </a:rPr>
              <a:t>14 · KPIS Y CRITERIOS DE ÉXITO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F1F5F9"/>
                </a:solidFill>
                <a:latin typeface="Inter"/>
              </a:rPr>
              <a:t>Cómo medimos si el piloto funcionó.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606040"/>
            <a:ext cx="3694176" cy="1463040"/>
          </a:xfrm>
          <a:prstGeom prst="roundRect">
            <a:avLst>
              <a:gd name="adj" fmla="val 6000"/>
            </a:avLst>
          </a:prstGeom>
          <a:solidFill>
            <a:srgbClr val="13171F"/>
          </a:solidFill>
          <a:ln w="9525">
            <a:solidFill>
              <a:srgbClr val="2A2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77240" y="2898648"/>
            <a:ext cx="292608" cy="31750"/>
          </a:xfrm>
          <a:prstGeom prst="rect">
            <a:avLst/>
          </a:prstGeom>
          <a:solidFill>
            <a:srgbClr val="F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3063240"/>
            <a:ext cx="323697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1F5F9"/>
                </a:solidFill>
                <a:latin typeface="Inter"/>
              </a:rPr>
              <a:t>80%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566160"/>
            <a:ext cx="323697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9CA3AF"/>
                </a:solidFill>
                <a:latin typeface="Inter"/>
              </a:rPr>
              <a:t>Founders que completan diagnóstico inicial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2606040"/>
            <a:ext cx="3694176" cy="1463040"/>
          </a:xfrm>
          <a:prstGeom prst="roundRect">
            <a:avLst>
              <a:gd name="adj" fmla="val 6000"/>
            </a:avLst>
          </a:prstGeom>
          <a:solidFill>
            <a:srgbClr val="13171F"/>
          </a:solidFill>
          <a:ln w="9525">
            <a:solidFill>
              <a:srgbClr val="2A2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99432" y="2898648"/>
            <a:ext cx="292608" cy="3175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99432" y="3063240"/>
            <a:ext cx="323697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1F5F9"/>
                </a:solidFill>
                <a:latin typeface="Inter"/>
              </a:rPr>
              <a:t>60%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9432" y="3566160"/>
            <a:ext cx="323697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9CA3AF"/>
                </a:solidFill>
                <a:latin typeface="Inter"/>
              </a:rPr>
              <a:t>Founders que terminan ≥3 herramientas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93024" y="2606040"/>
            <a:ext cx="3694176" cy="1463040"/>
          </a:xfrm>
          <a:prstGeom prst="roundRect">
            <a:avLst>
              <a:gd name="adj" fmla="val 6000"/>
            </a:avLst>
          </a:prstGeom>
          <a:solidFill>
            <a:srgbClr val="13171F"/>
          </a:solidFill>
          <a:ln w="9525">
            <a:solidFill>
              <a:srgbClr val="2A2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421624" y="2898648"/>
            <a:ext cx="292608" cy="317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21624" y="3063240"/>
            <a:ext cx="323697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1F5F9"/>
                </a:solidFill>
                <a:latin typeface="Inter"/>
              </a:rPr>
              <a:t>100%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21624" y="3566160"/>
            <a:ext cx="323697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9CA3AF"/>
                </a:solidFill>
                <a:latin typeface="Inter"/>
              </a:rPr>
              <a:t>Reportes mensuales generados sin trabajo manual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197096"/>
            <a:ext cx="3694176" cy="1463040"/>
          </a:xfrm>
          <a:prstGeom prst="roundRect">
            <a:avLst>
              <a:gd name="adj" fmla="val 6000"/>
            </a:avLst>
          </a:prstGeom>
          <a:solidFill>
            <a:srgbClr val="13171F"/>
          </a:solidFill>
          <a:ln w="9525">
            <a:solidFill>
              <a:srgbClr val="2A2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77240" y="4489704"/>
            <a:ext cx="292608" cy="317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4654296"/>
            <a:ext cx="323697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1F5F9"/>
                </a:solidFill>
                <a:latin typeface="Inter"/>
              </a:rPr>
              <a:t>NPS 50+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157216"/>
            <a:ext cx="323697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9CA3AF"/>
                </a:solidFill>
                <a:latin typeface="Inter"/>
              </a:rPr>
              <a:t>Satisfacción de los líderes de programa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197096"/>
            <a:ext cx="3694176" cy="1463040"/>
          </a:xfrm>
          <a:prstGeom prst="roundRect">
            <a:avLst>
              <a:gd name="adj" fmla="val 6000"/>
            </a:avLst>
          </a:prstGeom>
          <a:solidFill>
            <a:srgbClr val="13171F"/>
          </a:solidFill>
          <a:ln w="9525">
            <a:solidFill>
              <a:srgbClr val="2A2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99432" y="4489704"/>
            <a:ext cx="292608" cy="3175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99432" y="4654296"/>
            <a:ext cx="323697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1F5F9"/>
                </a:solidFill>
                <a:latin typeface="Inter"/>
              </a:rPr>
              <a:t>&lt; 1 semana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99432" y="5157216"/>
            <a:ext cx="323697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9CA3AF"/>
                </a:solidFill>
                <a:latin typeface="Inter"/>
              </a:rPr>
              <a:t>Tiempo para preparar reporte ejecutivo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93024" y="4197096"/>
            <a:ext cx="3694176" cy="1463040"/>
          </a:xfrm>
          <a:prstGeom prst="roundRect">
            <a:avLst>
              <a:gd name="adj" fmla="val 6000"/>
            </a:avLst>
          </a:prstGeom>
          <a:solidFill>
            <a:srgbClr val="13171F"/>
          </a:solidFill>
          <a:ln w="9525">
            <a:solidFill>
              <a:srgbClr val="2A2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421624" y="4489704"/>
            <a:ext cx="292608" cy="31750"/>
          </a:xfrm>
          <a:prstGeom prst="rect">
            <a:avLst/>
          </a:prstGeom>
          <a:solidFill>
            <a:srgbClr val="F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421624" y="4654296"/>
            <a:ext cx="323697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1F5F9"/>
                </a:solidFill>
                <a:latin typeface="Inter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21624" y="5157216"/>
            <a:ext cx="323697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9CA3AF"/>
                </a:solidFill>
                <a:latin typeface="Inter"/>
              </a:rPr>
              <a:t>Programas en producción al cierre del piloto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669280"/>
            <a:ext cx="11091672" cy="640080"/>
          </a:xfrm>
          <a:prstGeom prst="roundRect">
            <a:avLst>
              <a:gd name="adj" fmla="val 6000"/>
            </a:avLst>
          </a:prstGeom>
          <a:solidFill>
            <a:srgbClr val="1E2330"/>
          </a:solidFill>
          <a:ln w="9525">
            <a:solidFill>
              <a:srgbClr val="2A2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2960" y="5779008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1">
                <a:solidFill>
                  <a:srgbClr val="F1F5F9"/>
                </a:solidFill>
                <a:latin typeface="Inter"/>
              </a:rPr>
              <a:t>Resultado esperado: data dura para decidir si escalar a nivel nacional en 2027.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B7280"/>
                </a:solidFill>
                <a:latin typeface="Inter"/>
              </a:rPr>
              <a:t>Startups4Climate · Pitch MINPRO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6B7280"/>
                </a:solidFill>
                <a:latin typeface="Inter"/>
              </a:rPr>
              <a:t>16 / 19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FF6B4A"/>
                </a:solidFill>
                <a:latin typeface="Inter"/>
              </a:rPr>
              <a:t>15 · MODELO ECONÓMICO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F1F5F9"/>
                </a:solidFill>
                <a:latin typeface="Inter"/>
              </a:rPr>
              <a:t>Estructura de costos del piloto y proyección nacional.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9CA3AF"/>
                </a:solidFill>
                <a:latin typeface="Inter"/>
              </a:rPr>
              <a:t>Modelo SaaS por organización + licencia institucional para el ente rector.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606040"/>
            <a:ext cx="3694176" cy="3657600"/>
          </a:xfrm>
          <a:prstGeom prst="roundRect">
            <a:avLst>
              <a:gd name="adj" fmla="val 6000"/>
            </a:avLst>
          </a:prstGeom>
          <a:solidFill>
            <a:srgbClr val="13171F"/>
          </a:solidFill>
          <a:ln w="9525">
            <a:solidFill>
              <a:srgbClr val="2A2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2788920"/>
            <a:ext cx="314553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F1F5F9"/>
                </a:solidFill>
                <a:latin typeface="Inter"/>
              </a:rPr>
              <a:t>Plan Regional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154680"/>
            <a:ext cx="314553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0D9488"/>
                </a:solidFill>
                <a:latin typeface="Inter"/>
              </a:rPr>
              <a:t>Gratuito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794760"/>
            <a:ext cx="3145536" cy="9525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22960" y="4005072"/>
            <a:ext cx="73152" cy="73152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3931920"/>
            <a:ext cx="296265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CBD5E1"/>
                </a:solidFill>
                <a:latin typeface="Inter"/>
              </a:rPr>
              <a:t>Hasta 20 startups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4370832"/>
            <a:ext cx="73152" cy="73152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4297680"/>
            <a:ext cx="296265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CBD5E1"/>
                </a:solidFill>
                <a:latin typeface="Inter"/>
              </a:rPr>
              <a:t>Acceso a herramientas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4736592"/>
            <a:ext cx="73152" cy="73152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4663440"/>
            <a:ext cx="296265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CBD5E1"/>
                </a:solidFill>
                <a:latin typeface="Inter"/>
              </a:rPr>
              <a:t>Dashboard básico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5102352"/>
            <a:ext cx="73152" cy="73152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05840" y="5029200"/>
            <a:ext cx="296265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CBD5E1"/>
                </a:solidFill>
                <a:latin typeface="Inter"/>
              </a:rPr>
              <a:t>Reportes simples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5468112"/>
            <a:ext cx="73152" cy="73152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" y="5394960"/>
            <a:ext cx="296265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CBD5E1"/>
                </a:solidFill>
                <a:latin typeface="Inter"/>
              </a:rPr>
              <a:t>Para incubadoras fuera de Lima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70832" y="2606040"/>
            <a:ext cx="3694176" cy="3657600"/>
          </a:xfrm>
          <a:prstGeom prst="roundRect">
            <a:avLst>
              <a:gd name="adj" fmla="val 6000"/>
            </a:avLst>
          </a:prstGeom>
          <a:solidFill>
            <a:srgbClr val="1E2330"/>
          </a:solidFill>
          <a:ln w="9525">
            <a:solidFill>
              <a:srgbClr val="FF6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645152" y="2788920"/>
            <a:ext cx="314553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F1F5F9"/>
                </a:solidFill>
                <a:latin typeface="Inter"/>
              </a:rPr>
              <a:t>Plan Profesional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45152" y="3154680"/>
            <a:ext cx="314553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FF6B4A"/>
                </a:solidFill>
                <a:latin typeface="Inter"/>
              </a:rPr>
              <a:t>S/ 1,100 / año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45152" y="3794760"/>
            <a:ext cx="3145536" cy="9525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4645152" y="4005072"/>
            <a:ext cx="73152" cy="73152"/>
          </a:xfrm>
          <a:prstGeom prst="ellipse">
            <a:avLst/>
          </a:prstGeom>
          <a:solidFill>
            <a:srgbClr val="F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828032" y="3931920"/>
            <a:ext cx="296265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CBD5E1"/>
                </a:solidFill>
                <a:latin typeface="Inter"/>
              </a:rPr>
              <a:t>Hasta 30 startups</a:t>
            </a:r>
          </a:p>
        </p:txBody>
      </p:sp>
      <p:sp>
        <p:nvSpPr>
          <p:cNvPr id="25" name="Oval 24"/>
          <p:cNvSpPr/>
          <p:nvPr/>
        </p:nvSpPr>
        <p:spPr>
          <a:xfrm>
            <a:off x="4645152" y="4370832"/>
            <a:ext cx="73152" cy="73152"/>
          </a:xfrm>
          <a:prstGeom prst="ellipse">
            <a:avLst/>
          </a:prstGeom>
          <a:solidFill>
            <a:srgbClr val="F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828032" y="4297680"/>
            <a:ext cx="296265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CBD5E1"/>
                </a:solidFill>
                <a:latin typeface="Inter"/>
              </a:rPr>
              <a:t>Reportes avanzados Excel</a:t>
            </a:r>
          </a:p>
        </p:txBody>
      </p:sp>
      <p:sp>
        <p:nvSpPr>
          <p:cNvPr id="27" name="Oval 26"/>
          <p:cNvSpPr/>
          <p:nvPr/>
        </p:nvSpPr>
        <p:spPr>
          <a:xfrm>
            <a:off x="4645152" y="4736592"/>
            <a:ext cx="73152" cy="73152"/>
          </a:xfrm>
          <a:prstGeom prst="ellipse">
            <a:avLst/>
          </a:prstGeom>
          <a:solidFill>
            <a:srgbClr val="F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828032" y="4663440"/>
            <a:ext cx="296265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CBD5E1"/>
                </a:solidFill>
                <a:latin typeface="Inter"/>
              </a:rPr>
              <a:t>Benchmarking de cohortes</a:t>
            </a:r>
          </a:p>
        </p:txBody>
      </p:sp>
      <p:sp>
        <p:nvSpPr>
          <p:cNvPr id="29" name="Oval 28"/>
          <p:cNvSpPr/>
          <p:nvPr/>
        </p:nvSpPr>
        <p:spPr>
          <a:xfrm>
            <a:off x="4645152" y="5102352"/>
            <a:ext cx="73152" cy="73152"/>
          </a:xfrm>
          <a:prstGeom prst="ellipse">
            <a:avLst/>
          </a:prstGeom>
          <a:solidFill>
            <a:srgbClr val="F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828032" y="5029200"/>
            <a:ext cx="296265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CBD5E1"/>
                </a:solidFill>
                <a:latin typeface="Inter"/>
              </a:rPr>
              <a:t>Soporte prioritario</a:t>
            </a:r>
          </a:p>
        </p:txBody>
      </p:sp>
      <p:sp>
        <p:nvSpPr>
          <p:cNvPr id="31" name="Oval 30"/>
          <p:cNvSpPr/>
          <p:nvPr/>
        </p:nvSpPr>
        <p:spPr>
          <a:xfrm>
            <a:off x="4645152" y="5468112"/>
            <a:ext cx="73152" cy="73152"/>
          </a:xfrm>
          <a:prstGeom prst="ellipse">
            <a:avLst/>
          </a:prstGeom>
          <a:solidFill>
            <a:srgbClr val="F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828032" y="5394960"/>
            <a:ext cx="296265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CBD5E1"/>
                </a:solidFill>
                <a:latin typeface="Inter"/>
              </a:rPr>
              <a:t>Branding personalizado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93024" y="2606040"/>
            <a:ext cx="3694176" cy="3657600"/>
          </a:xfrm>
          <a:prstGeom prst="roundRect">
            <a:avLst>
              <a:gd name="adj" fmla="val 6000"/>
            </a:avLst>
          </a:prstGeom>
          <a:solidFill>
            <a:srgbClr val="13171F"/>
          </a:solidFill>
          <a:ln w="9525">
            <a:solidFill>
              <a:srgbClr val="2A2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467344" y="2788920"/>
            <a:ext cx="314553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F1F5F9"/>
                </a:solidFill>
                <a:latin typeface="Inter"/>
              </a:rPr>
              <a:t>Licencia MINPRO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67344" y="3154680"/>
            <a:ext cx="314553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F59E0B"/>
                </a:solidFill>
                <a:latin typeface="Inter"/>
              </a:rPr>
              <a:t>A convenir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467344" y="3794760"/>
            <a:ext cx="3145536" cy="9525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8467344" y="4005072"/>
            <a:ext cx="73152" cy="7315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650224" y="3931920"/>
            <a:ext cx="296265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CBD5E1"/>
                </a:solidFill>
                <a:latin typeface="Inter"/>
              </a:rPr>
              <a:t>Cuenta Superadmin nacional</a:t>
            </a:r>
          </a:p>
        </p:txBody>
      </p:sp>
      <p:sp>
        <p:nvSpPr>
          <p:cNvPr id="39" name="Oval 38"/>
          <p:cNvSpPr/>
          <p:nvPr/>
        </p:nvSpPr>
        <p:spPr>
          <a:xfrm>
            <a:off x="8467344" y="4370832"/>
            <a:ext cx="73152" cy="7315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650224" y="4297680"/>
            <a:ext cx="296265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CBD5E1"/>
                </a:solidFill>
                <a:latin typeface="Inter"/>
              </a:rPr>
              <a:t>Vista de todos los programas</a:t>
            </a:r>
          </a:p>
        </p:txBody>
      </p:sp>
      <p:sp>
        <p:nvSpPr>
          <p:cNvPr id="41" name="Oval 40"/>
          <p:cNvSpPr/>
          <p:nvPr/>
        </p:nvSpPr>
        <p:spPr>
          <a:xfrm>
            <a:off x="8467344" y="4736592"/>
            <a:ext cx="73152" cy="7315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650224" y="4663440"/>
            <a:ext cx="296265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CBD5E1"/>
                </a:solidFill>
                <a:latin typeface="Inter"/>
              </a:rPr>
              <a:t>API + integraciones</a:t>
            </a:r>
          </a:p>
        </p:txBody>
      </p:sp>
      <p:sp>
        <p:nvSpPr>
          <p:cNvPr id="43" name="Oval 42"/>
          <p:cNvSpPr/>
          <p:nvPr/>
        </p:nvSpPr>
        <p:spPr>
          <a:xfrm>
            <a:off x="8467344" y="5102352"/>
            <a:ext cx="73152" cy="7315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650224" y="5029200"/>
            <a:ext cx="296265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CBD5E1"/>
                </a:solidFill>
                <a:latin typeface="Inter"/>
              </a:rPr>
              <a:t>SLA dedicado</a:t>
            </a:r>
          </a:p>
        </p:txBody>
      </p:sp>
      <p:sp>
        <p:nvSpPr>
          <p:cNvPr id="45" name="Oval 44"/>
          <p:cNvSpPr/>
          <p:nvPr/>
        </p:nvSpPr>
        <p:spPr>
          <a:xfrm>
            <a:off x="8467344" y="5468112"/>
            <a:ext cx="73152" cy="7315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650224" y="5394960"/>
            <a:ext cx="296265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CBD5E1"/>
                </a:solidFill>
                <a:latin typeface="Inter"/>
              </a:rPr>
              <a:t>Acompañamiento estratégico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B7280"/>
                </a:solidFill>
                <a:latin typeface="Inter"/>
              </a:rPr>
              <a:t>Startups4Climate · Pitch MINPRO 2026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6B7280"/>
                </a:solidFill>
                <a:latin typeface="Inter"/>
              </a:rPr>
              <a:t>17 / 19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FF6B4A"/>
                </a:solidFill>
                <a:latin typeface="Inter"/>
              </a:rPr>
              <a:t>16 · ROADMAP NACIONAL POST-PILOTO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F1F5F9"/>
                </a:solidFill>
                <a:latin typeface="Inter"/>
              </a:rPr>
              <a:t>De 3 organizaciones a cobertura nacional en 18 meses.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606040"/>
            <a:ext cx="1371600" cy="365760"/>
          </a:xfrm>
          <a:prstGeom prst="roundRect">
            <a:avLst>
              <a:gd name="adj" fmla="val 25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2642616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07090E"/>
                </a:solidFill>
                <a:latin typeface="Inter"/>
              </a:rPr>
              <a:t>Q3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48840" y="2560320"/>
            <a:ext cx="9601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F1F5F9"/>
                </a:solidFill>
                <a:latin typeface="Inter"/>
              </a:rPr>
              <a:t>Piloto cerrado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48840" y="2971800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9CA3AF"/>
                </a:solidFill>
                <a:latin typeface="Inter"/>
              </a:rPr>
              <a:t>3 orgs + 150 founders. Validación con el MINPRO. Reporte final.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520440"/>
            <a:ext cx="1371600" cy="365760"/>
          </a:xfrm>
          <a:prstGeom prst="roundRect">
            <a:avLst>
              <a:gd name="adj" fmla="val 25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3557016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07090E"/>
                </a:solidFill>
                <a:latin typeface="Inter"/>
              </a:rPr>
              <a:t>Q4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48840" y="3474720"/>
            <a:ext cx="9601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F1F5F9"/>
                </a:solidFill>
                <a:latin typeface="Inter"/>
              </a:rPr>
              <a:t>Onboarding macroregión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3886200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9CA3AF"/>
                </a:solidFill>
                <a:latin typeface="Inter"/>
              </a:rPr>
              <a:t>Norte, Sur, Centro y Selva. 15 universidades + 5 incubadoras.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434840"/>
            <a:ext cx="1371600" cy="365760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4471416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07090E"/>
                </a:solidFill>
                <a:latin typeface="Inter"/>
              </a:rPr>
              <a:t>Q1 2027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48840" y="4389120"/>
            <a:ext cx="9601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F1F5F9"/>
                </a:solidFill>
                <a:latin typeface="Inter"/>
              </a:rPr>
              <a:t>Integración cartera MINPRO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48840" y="4800600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9CA3AF"/>
                </a:solidFill>
                <a:latin typeface="Inter"/>
              </a:rPr>
              <a:t>StartUp Perú, ProInnóvate, InnóvateMype con dashboards comunes.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349240"/>
            <a:ext cx="1371600" cy="365760"/>
          </a:xfrm>
          <a:prstGeom prst="roundRect">
            <a:avLst>
              <a:gd name="adj" fmla="val 25000"/>
            </a:avLst>
          </a:prstGeom>
          <a:solidFill>
            <a:srgbClr val="F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5385816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07090E"/>
                </a:solidFill>
                <a:latin typeface="Inter"/>
              </a:rPr>
              <a:t>Q2 2027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48840" y="5303520"/>
            <a:ext cx="9601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F1F5F9"/>
                </a:solidFill>
                <a:latin typeface="Inter"/>
              </a:rPr>
              <a:t>Cobertura nacional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48840" y="5715000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9CA3AF"/>
                </a:solidFill>
                <a:latin typeface="Inter"/>
              </a:rPr>
              <a:t>24 departamentos · 30+ universidades · ente rector con visibilidad total.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852160"/>
            <a:ext cx="11091672" cy="548640"/>
          </a:xfrm>
          <a:prstGeom prst="roundRect">
            <a:avLst>
              <a:gd name="adj" fmla="val 6000"/>
            </a:avLst>
          </a:prstGeom>
          <a:solidFill>
            <a:srgbClr val="1E2330"/>
          </a:solidFill>
          <a:ln w="9525">
            <a:solidFill>
              <a:srgbClr val="2A2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60" y="5943600"/>
            <a:ext cx="10515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1">
                <a:solidFill>
                  <a:srgbClr val="F1F5F9"/>
                </a:solidFill>
                <a:latin typeface="Inter"/>
              </a:rPr>
              <a:t>Visión 2030: S4C como infraestructura permanente del ecosistema peruano de emprendimiento, replicable en LATAM.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B7280"/>
                </a:solidFill>
                <a:latin typeface="Inter"/>
              </a:rPr>
              <a:t>Startups4Climate · Pitch MINPRO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6B7280"/>
                </a:solidFill>
                <a:latin typeface="Inter"/>
              </a:rPr>
              <a:t>18 / 19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9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7315200" y="-1828800"/>
            <a:ext cx="6400800" cy="6400800"/>
          </a:xfrm>
          <a:prstGeom prst="ellipse">
            <a:avLst/>
          </a:prstGeom>
          <a:solidFill>
            <a:srgbClr val="2A1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" y="502920"/>
            <a:ext cx="364845" cy="364845"/>
          </a:xfrm>
          <a:prstGeom prst="roundRect">
            <a:avLst>
              <a:gd name="adj" fmla="val 25000"/>
            </a:avLst>
          </a:prstGeom>
          <a:solidFill>
            <a:srgbClr val="1E2330"/>
          </a:solidFill>
          <a:ln w="9525">
            <a:solidFill>
              <a:srgbClr val="FF6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364845" cy="36484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F1F5F9"/>
                </a:solidFill>
                <a:latin typeface="Inter"/>
              </a:rPr>
              <a:t>S4C</a:t>
            </a:r>
          </a:p>
        </p:txBody>
      </p:sp>
      <p:sp>
        <p:nvSpPr>
          <p:cNvPr id="5" name="Oval 4"/>
          <p:cNvSpPr/>
          <p:nvPr/>
        </p:nvSpPr>
        <p:spPr>
          <a:xfrm>
            <a:off x="944118" y="546354"/>
            <a:ext cx="65150" cy="65150"/>
          </a:xfrm>
          <a:prstGeom prst="ellipse">
            <a:avLst/>
          </a:prstGeom>
          <a:solidFill>
            <a:srgbClr val="F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61287" y="485547"/>
            <a:ext cx="3040379" cy="399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400" b="1">
                <a:solidFill>
                  <a:srgbClr val="F1F5F9"/>
                </a:solidFill>
                <a:latin typeface="Inter"/>
              </a:rPr>
              <a:t>Startups</a:t>
            </a:r>
            <a:r>
              <a:rPr sz="1400" b="1">
                <a:solidFill>
                  <a:srgbClr val="FF6B4A"/>
                </a:solidFill>
                <a:latin typeface="Inter"/>
              </a:rPr>
              <a:t>4</a:t>
            </a:r>
            <a:r>
              <a:rPr sz="1400" b="1">
                <a:solidFill>
                  <a:srgbClr val="F1F5F9"/>
                </a:solidFill>
                <a:latin typeface="Inter"/>
              </a:rPr>
              <a:t>Climate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FF6B4A"/>
                </a:solidFill>
                <a:latin typeface="Inter"/>
              </a:rPr>
              <a:t>EL PEDIDO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105156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1F5F9"/>
                </a:solidFill>
                <a:latin typeface="Inter"/>
              </a:rPr>
              <a:t>Aprobar el piloto de 6 meses para validar S4C</a:t>
            </a:r>
          </a:p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1F5F9"/>
                </a:solidFill>
                <a:latin typeface="Inter"/>
              </a:rPr>
              <a:t>como infraestructura del MINPRO.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297680"/>
            <a:ext cx="3694176" cy="1554480"/>
          </a:xfrm>
          <a:prstGeom prst="roundRect">
            <a:avLst>
              <a:gd name="adj" fmla="val 6000"/>
            </a:avLst>
          </a:prstGeom>
          <a:solidFill>
            <a:srgbClr val="13171F"/>
          </a:solidFill>
          <a:ln w="9525">
            <a:solidFill>
              <a:srgbClr val="2A2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22960" y="4480560"/>
            <a:ext cx="384048" cy="384048"/>
          </a:xfrm>
          <a:prstGeom prst="ellipse">
            <a:avLst/>
          </a:prstGeom>
          <a:solidFill>
            <a:srgbClr val="F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4498848"/>
            <a:ext cx="38404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07090E"/>
                </a:solidFill>
                <a:latin typeface="Inter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4498848"/>
            <a:ext cx="259689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1F5F9"/>
                </a:solidFill>
                <a:latin typeface="Inter"/>
              </a:rPr>
              <a:t>Carta de respaldo institucional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029200"/>
            <a:ext cx="3145536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9CA3AF"/>
                </a:solidFill>
                <a:latin typeface="Inter"/>
              </a:rPr>
              <a:t>Para coordinar con 3 orgs operadoras del piloto.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70832" y="4297680"/>
            <a:ext cx="3694176" cy="1554480"/>
          </a:xfrm>
          <a:prstGeom prst="roundRect">
            <a:avLst>
              <a:gd name="adj" fmla="val 6000"/>
            </a:avLst>
          </a:prstGeom>
          <a:solidFill>
            <a:srgbClr val="13171F"/>
          </a:solidFill>
          <a:ln w="9525">
            <a:solidFill>
              <a:srgbClr val="2A2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645152" y="4480560"/>
            <a:ext cx="384048" cy="384048"/>
          </a:xfrm>
          <a:prstGeom prst="ellipse">
            <a:avLst/>
          </a:prstGeom>
          <a:solidFill>
            <a:srgbClr val="F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45152" y="4498848"/>
            <a:ext cx="38404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07090E"/>
                </a:solidFill>
                <a:latin typeface="Inter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8072" y="4498848"/>
            <a:ext cx="259689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1F5F9"/>
                </a:solidFill>
                <a:latin typeface="Inter"/>
              </a:rPr>
              <a:t>Designación de un equipo MINPRO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45152" y="5029200"/>
            <a:ext cx="3145536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9CA3AF"/>
                </a:solidFill>
                <a:latin typeface="Inter"/>
              </a:rPr>
              <a:t>2-3 personas como contraparte técnica y usuarios Superadmin.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93024" y="4297680"/>
            <a:ext cx="3694176" cy="1554480"/>
          </a:xfrm>
          <a:prstGeom prst="roundRect">
            <a:avLst>
              <a:gd name="adj" fmla="val 6000"/>
            </a:avLst>
          </a:prstGeom>
          <a:solidFill>
            <a:srgbClr val="13171F"/>
          </a:solidFill>
          <a:ln w="9525">
            <a:solidFill>
              <a:srgbClr val="2A2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467344" y="4480560"/>
            <a:ext cx="384048" cy="384048"/>
          </a:xfrm>
          <a:prstGeom prst="ellipse">
            <a:avLst/>
          </a:prstGeom>
          <a:solidFill>
            <a:srgbClr val="F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67344" y="4498848"/>
            <a:ext cx="38404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07090E"/>
                </a:solidFill>
                <a:latin typeface="Inter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70264" y="4498848"/>
            <a:ext cx="259689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1F5F9"/>
                </a:solidFill>
                <a:latin typeface="Inter"/>
              </a:rPr>
              <a:t>Definición de KPIs conjuntos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67344" y="5029200"/>
            <a:ext cx="3145536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9CA3AF"/>
                </a:solidFill>
                <a:latin typeface="Inter"/>
              </a:rPr>
              <a:t>Para evaluar el piloto y la decisión de escalado en Q1 2027.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6080760"/>
            <a:ext cx="11091672" cy="502920"/>
          </a:xfrm>
          <a:prstGeom prst="roundRect">
            <a:avLst>
              <a:gd name="adj" fmla="val 6000"/>
            </a:avLst>
          </a:prstGeom>
          <a:solidFill>
            <a:srgbClr val="1E2330"/>
          </a:solidFill>
          <a:ln w="9525">
            <a:solidFill>
              <a:srgbClr val="2A2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CBD5E1"/>
                </a:solidFill>
                <a:latin typeface="Inter"/>
              </a:rPr>
              <a:t>Lorenzo Ortiz · Co-fundador, Redesign Lab  ·  lorenzo.ortiz@redesignlab.org  ·  WhatsApp +51 989 338 401  ·  startups4climate.vercel.app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2232</Words>
  <Application>Microsoft Macintosh PowerPoint</Application>
  <PresentationFormat>Widescreen</PresentationFormat>
  <Paragraphs>348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Lorenzo Ortiz</cp:lastModifiedBy>
  <cp:revision>3</cp:revision>
  <dcterms:created xsi:type="dcterms:W3CDTF">2013-01-27T09:14:16Z</dcterms:created>
  <dcterms:modified xsi:type="dcterms:W3CDTF">2026-04-16T14:58:34Z</dcterms:modified>
  <cp:category/>
</cp:coreProperties>
</file>